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416b9000404b2a" /><Relationship Type="http://schemas.openxmlformats.org/officeDocument/2006/relationships/extended-properties" Target="/docProps/app.xml" Id="R57d2746b1ea34e47" /><Relationship Type="http://schemas.openxmlformats.org/officeDocument/2006/relationships/officeDocument" Target="/ppt/presentation.xml" Id="Rb0998052bdbd4b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955a24edaa4025"/>
  </p:sldMasterIdLst>
  <p:notesMasterIdLst>
    <p:notesMasterId xmlns:r="http://schemas.openxmlformats.org/officeDocument/2006/relationships" r:id="R8ce2332b97244813"/>
  </p:notesMasterIdLst>
  <p:sldIdLst>
    <p:sldId xmlns:r="http://schemas.openxmlformats.org/officeDocument/2006/relationships" id="256" r:id="Rbc97570250b2447c"/>
    <p:sldId xmlns:r="http://schemas.openxmlformats.org/officeDocument/2006/relationships" id="257" r:id="R218c0756723744da"/>
    <p:sldId xmlns:r="http://schemas.openxmlformats.org/officeDocument/2006/relationships" id="258" r:id="Re921f5349a8142b5"/>
    <p:sldId xmlns:r="http://schemas.openxmlformats.org/officeDocument/2006/relationships" id="259" r:id="R1f8ca8b7e6244dee"/>
    <p:sldId xmlns:r="http://schemas.openxmlformats.org/officeDocument/2006/relationships" id="260" r:id="R67015ea8e8104dfe"/>
    <p:sldId xmlns:r="http://schemas.openxmlformats.org/officeDocument/2006/relationships" id="261" r:id="Re00234df708e48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e93ad6514b4738" /><Relationship Type="http://schemas.openxmlformats.org/officeDocument/2006/relationships/slideMaster" Target="/ppt/slideMasters/slideMaster1.xml" Id="R23955a24edaa4025" /><Relationship Type="http://schemas.openxmlformats.org/officeDocument/2006/relationships/notesMaster" Target="/ppt/notesMasters/notesMaster1.xml" Id="R8ce2332b97244813" /><Relationship Type="http://schemas.openxmlformats.org/officeDocument/2006/relationships/presProps" Target="/ppt/presProps.xml" Id="R592669df8a0141d6" /><Relationship Type="http://schemas.openxmlformats.org/officeDocument/2006/relationships/tableStyles" Target="/ppt/tableStyles.xml" Id="Ra10ad2a4683c4531" /><Relationship Type="http://schemas.openxmlformats.org/officeDocument/2006/relationships/slide" Target="/ppt/slides/slide1.xml" Id="Rbc97570250b2447c" /><Relationship Type="http://schemas.openxmlformats.org/officeDocument/2006/relationships/slide" Target="/ppt/slides/slide2.xml" Id="R218c0756723744da" /><Relationship Type="http://schemas.openxmlformats.org/officeDocument/2006/relationships/slide" Target="/ppt/slides/slide3.xml" Id="Re921f5349a8142b5" /><Relationship Type="http://schemas.openxmlformats.org/officeDocument/2006/relationships/slide" Target="/ppt/slides/slide4.xml" Id="R1f8ca8b7e6244dee" /><Relationship Type="http://schemas.openxmlformats.org/officeDocument/2006/relationships/slide" Target="/ppt/slides/slide5.xml" Id="R67015ea8e8104dfe" /><Relationship Type="http://schemas.openxmlformats.org/officeDocument/2006/relationships/slide" Target="/ppt/slides/slide6.xml" Id="Re00234df708e48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0ba616cbba4b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51b27a0fb94d78" /><Relationship Type="http://schemas.openxmlformats.org/officeDocument/2006/relationships/notesMaster" Target="/ppt/notesMasters/notesMaster1.xml" Id="Re411a3bd376a43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286fbd72844b39" /><Relationship Type="http://schemas.openxmlformats.org/officeDocument/2006/relationships/notesMaster" Target="/ppt/notesMasters/notesMaster1.xml" Id="R1f193bfc3dfd41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b0e292d4bb4180" /><Relationship Type="http://schemas.openxmlformats.org/officeDocument/2006/relationships/notesMaster" Target="/ppt/notesMasters/notesMaster1.xml" Id="Readc93ac328843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f0f7c59711433d" /><Relationship Type="http://schemas.openxmlformats.org/officeDocument/2006/relationships/notesMaster" Target="/ppt/notesMasters/notesMaster1.xml" Id="R29cb48928fcf42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9daaa42b91450e" /><Relationship Type="http://schemas.openxmlformats.org/officeDocument/2006/relationships/notesMaster" Target="/ppt/notesMasters/notesMaster1.xml" Id="Rc549fdb277dc4c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632f78d16c4204" /><Relationship Type="http://schemas.openxmlformats.org/officeDocument/2006/relationships/notesMaster" Target="/ppt/notesMasters/notesMaster1.xml" Id="Ra6c8d6f01bfc48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60 SECONDI</a:t>
            </a:r>
          </a:p>
          <a:p xmlns:a="http://schemas.openxmlformats.org/drawingml/2006/main">
            <a:r>
              <a:t>Dieci euro, mezz’ora e Viale Pindaro. Il cliente pubblica il bisogno. I locali propongono il pranzo.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PITCH 2 MINUTI</a:t>
            </a:r>
          </a:p>
          <a:p xmlns:a="http://schemas.openxmlformats.org/drawingml/2006/main">
            <a:r>
              <a:t>Una persona ha dieci euro e mezz’ora in Viale Pindaro. Pubblica una richiesta con budget, quantità e ritiro. Il locale risponde con piatto e prezzo precisi. Nella demo Forno, Verde e Bowl sono fittizi, con offerte da 7,90, 8,50 e 9,90 euro. Non si prenota cibo.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FONTI E PERIMETRO</a:t>
            </a:r>
          </a:p>
          <a:p xmlns:a="http://schemas.openxmlformats.org/drawingml/2006/main">
            <a:r>
              <a:t>https://food-arena.eldamarchigiano.chatgpt.site</a:t>
            </a:r>
          </a:p>
          <a:p xmlns:a="http://schemas.openxmlformats.org/drawingml/2006/main">
            <a:r>
              <a:t>https://github.com/SPAZIOZEROLAB/food-arena</a:t>
            </a:r>
          </a:p>
          <a:p xmlns:a="http://schemas.openxmlformats.org/drawingml/2006/main">
            <a:r>
              <a:t>https://food-arena.eldamarchigiano.chatgpt.site/mandato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60 SECONDI</a:t>
            </a:r>
          </a:p>
          <a:p xmlns:a="http://schemas.openxmlformats.org/drawingml/2006/main">
            <a:r>
              <a:t>L’AI confronta il menù e invia offerte autorizzate. Lavora nel browser, con il pannello aperto.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PITCH 2 MINUTI</a:t>
            </a:r>
          </a:p>
          <a:p xmlns:a="http://schemas.openxmlformats.org/drawingml/2006/main">
            <a:r>
              <a:t>Il gestore pubblica quantità riservate e autorizza l’AI. MiniLM confronta semanticamente le richieste con il menù e invia proposte firmate. Le regole controllano budget e tempi. Anche il cliente può riordinare le offerte. Il modello gira nel browser e l’automazione richiede il pannello aperto.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FONTI E PERIMETRO</a:t>
            </a:r>
          </a:p>
          <a:p xmlns:a="http://schemas.openxmlformats.org/drawingml/2006/main">
            <a:r>
              <a:t>https://food-arena.eldamarchigiano.chatgpt.site</a:t>
            </a:r>
          </a:p>
          <a:p xmlns:a="http://schemas.openxmlformats.org/drawingml/2006/main">
            <a:r>
              <a:t>https://github.com/SPAZIOZEROLAB/food-arena</a:t>
            </a:r>
          </a:p>
          <a:p xmlns:a="http://schemas.openxmlformats.org/drawingml/2006/main">
            <a:r>
              <a:t>https://food-arena.eldamarchigiano.chatgpt.site/mandato</a:t>
            </a:r>
          </a:p>
          <a:p xmlns:a="http://schemas.openxmlformats.org/drawingml/2006/main">
            <a:r>
              <a:t>Prototipo: chiave del gestore registrato nel suo browser. Firmatari delle tre attività fittizie custoditi dal server. Sponsor e beneficiario coincidono nella demo, merchant distinti.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60 SECONDI</a:t>
            </a:r>
          </a:p>
          <a:p xmlns:a="http://schemas.openxmlformats.org/drawingml/2006/main">
            <a:r>
              <a:t>Il gestore firma il mandato. Avalanche custodisce la commissione e applica i limiti, anche al relayer.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PITCH 2 MINUTI</a:t>
            </a:r>
          </a:p>
          <a:p xmlns:a="http://schemas.openxmlformats.org/drawingml/2006/main">
            <a:r>
              <a:t>Il budget di acquisizione appartiene al mandato del gestore. Il contratto custodisce test AVAX, controlla firma EIP-712, beneficiario e limiti. Il gestore registrato tiene la chiave nel browser. Nel prototipo lo sponsor finanzia la prova e il relayer coincide con il beneficiario, distinto dal gestore.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FONTI E PERIMETRO</a:t>
            </a:r>
          </a:p>
          <a:p xmlns:a="http://schemas.openxmlformats.org/drawingml/2006/main">
            <a:r>
              <a:t>https://food-arena.eldamarchigiano.chatgpt.site</a:t>
            </a:r>
          </a:p>
          <a:p xmlns:a="http://schemas.openxmlformats.org/drawingml/2006/main">
            <a:r>
              <a:t>https://github.com/SPAZIOZEROLAB/food-arena</a:t>
            </a:r>
          </a:p>
          <a:p xmlns:a="http://schemas.openxmlformats.org/drawingml/2006/main">
            <a:r>
              <a:t>https://food-arena.eldamarchigiano.chatgpt.site/mandato</a:t>
            </a:r>
          </a:p>
          <a:p xmlns:a="http://schemas.openxmlformats.org/drawingml/2006/main">
            <a:r>
              <a:t>FoodArenaBudgetFuji.sol e test-results.json, work/essential-contract, verifica locale del 19 settembre 2026. Tredici gruppi Ganache superati. Test HTTP del 19 settembre 2026, 12:46 UTC: 40 controlli superati dall’app locale contro Fuji reale, una sola riserva e un solo settlement. Contratto 0x1077e1317345de42af33B0E048bC2cD725Cf9fC5.</a:t>
            </a:r>
          </a:p>
          <a:p xmlns:a="http://schemas.openxmlformats.org/drawingml/2006/main">
            <a:r>
              <a:t>Prototipo: chiave del gestore registrato nel suo browser. Firmatari delle tre attività fittizie custoditi dal server. Sponsor e beneficiario coincidono nella demo, merchant distinti.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60 SECONDI</a:t>
            </a:r>
          </a:p>
          <a:p xmlns:a="http://schemas.openxmlformats.org/drawingml/2006/main">
            <a:r>
              <a:t>La scelta riserva, il ritiro assegna il compenso. Dopo la scadenza si libera la riserva. Le prove sono consultabili.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PITCH 2 MINUTI</a:t>
            </a:r>
          </a:p>
          <a:p xmlns:a="http://schemas.openxmlformats.org/drawingml/2006/main">
            <a:r>
              <a:t>Quando il cliente sceglie, il contratto riserva una commissione. Il ritiro richiede una seconda firma del gestore e accredita il beneficiario. Dopo la scadenza una transazione libera la riserva. La prova dell’app locale collegata a Fuji ha gestito dodici scelte concorrenti con una sola riserva, un solo settlement e un solo decremento delle porzioni.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FONTI E PERIMETRO</a:t>
            </a:r>
          </a:p>
          <a:p xmlns:a="http://schemas.openxmlformats.org/drawingml/2006/main">
            <a:r>
              <a:t>https://food-arena.eldamarchigiano.chatgpt.site</a:t>
            </a:r>
          </a:p>
          <a:p xmlns:a="http://schemas.openxmlformats.org/drawingml/2006/main">
            <a:r>
              <a:t>https://github.com/SPAZIOZEROLAB/food-arena</a:t>
            </a:r>
          </a:p>
          <a:p xmlns:a="http://schemas.openxmlformats.org/drawingml/2006/main">
            <a:r>
              <a:t>https://food-arena.eldamarchigiano.chatgpt.site/mandato</a:t>
            </a:r>
          </a:p>
          <a:p xmlns:a="http://schemas.openxmlformats.org/drawingml/2006/main">
            <a:r>
              <a:t>FoodArenaBudgetFuji.sol e test-results.json, work/essential-contract, verifica locale del 19 settembre 2026. Tredici gruppi Ganache superati. Test HTTP del 19 settembre 2026, 12:46 UTC: 40 controlli superati dall’app locale contro Fuji reale, una sola riserva e un solo settlement. Contratto 0x1077e1317345de42af33B0E048bC2cD725Cf9fC5.</a:t>
            </a:r>
          </a:p>
          <a:p xmlns:a="http://schemas.openxmlformats.org/drawingml/2006/main">
            <a:r>
              <a:t>https://build.avax.network/explorer/fuji/c-chain/tx/0x1df59597405b744d79a0df85502cb8827795037f64eda6ec0a2048dfc2773ee0</a:t>
            </a:r>
          </a:p>
          <a:p xmlns:a="http://schemas.openxmlformats.org/drawingml/2006/main">
            <a:r>
              <a:t>https://build.avax.network/explorer/fuji/c-chain/tx/0x4ae6a851504d4ec823c290acc08d17f551a9db4346209f7da90776f219fcf849</a:t>
            </a:r>
          </a:p>
          <a:p xmlns:a="http://schemas.openxmlformats.org/drawingml/2006/main">
            <a:r>
              <a:t>https://build.avax.network/explorer/fuji/c-chain/tx/0x684bef69dd96fc9c84c0816a40cf840e47b3b12a1acfb8d9dbd40523934f33be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60 SECONDI</a:t>
            </a:r>
          </a:p>
          <a:p xmlns:a="http://schemas.openxmlformats.org/drawingml/2006/main">
            <a:r>
              <a:t>Proponiamo due locali, dieci studenti e cinque giorni. Trenta centesimi per ritiro è un’ipotesi da validare.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PITCH 2 MINUTI</a:t>
            </a:r>
          </a:p>
          <a:p xmlns:a="http://schemas.openxmlformats.org/drawingml/2006/main">
            <a:r>
              <a:t>Il primo pilota proposto coinvolge due locali e dieci studenti per cinque giorni. Prima concordiamo disponibilità autentiche, poi invitiamo gli studenti tramite QR. Misuriamo ritiri completati e tempo del gestore. Oggi abbiamo zero partner aderenti. Trenta centesimi per ritiro è un prezzo ipotetico, senza conversione in test AVAX.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FONTI E PERIMETRO</a:t>
            </a:r>
          </a:p>
          <a:p xmlns:a="http://schemas.openxmlformats.org/drawingml/2006/main">
            <a:r>
              <a:t>https://food-arena.eldamarchigiano.chatgpt.site</a:t>
            </a:r>
          </a:p>
          <a:p xmlns:a="http://schemas.openxmlformats.org/drawingml/2006/main">
            <a:r>
              <a:t>https://github.com/SPAZIOZEROLAB/food-arena</a:t>
            </a:r>
          </a:p>
          <a:p xmlns:a="http://schemas.openxmlformats.org/drawingml/2006/main">
            <a:r>
              <a:t>https://food-arena.eldamarchigiano.chatgpt.site/mandato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60 SECONDI</a:t>
            </a:r>
          </a:p>
          <a:p xmlns:a="http://schemas.openxmlformats.org/drawingml/2006/main">
            <a:r>
              <a:t>App, codice MIT e pagina del mandato sono pubblici. Cerchiamo due gestori per verificare il servizio sul campo.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PITCH 2 MINUTI</a:t>
            </a:r>
          </a:p>
          <a:p xmlns:a="http://schemas.openxmlformats.org/drawingml/2006/main">
            <a:r>
              <a:t>Il codice è pubblico con licenza MIT, che non scade. Lo manterremo aperto almeno fino al diciannove dicembre. Il cliente paga il pasto al locale. La prova riguarda il budget e le autorizzazioni, mentre il ritiro resta una dichiarazione del gestore. Il prossimo passo sono due attività disponibili per il pilota.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FONTI E PERIMETRO</a:t>
            </a:r>
          </a:p>
          <a:p xmlns:a="http://schemas.openxmlformats.org/drawingml/2006/main">
            <a:r>
              <a:t>https://food-arena.eldamarchigiano.chatgpt.site</a:t>
            </a:r>
          </a:p>
          <a:p xmlns:a="http://schemas.openxmlformats.org/drawingml/2006/main">
            <a:r>
              <a:t>https://github.com/SPAZIOZEROLAB/food-arena</a:t>
            </a:r>
          </a:p>
          <a:p xmlns:a="http://schemas.openxmlformats.org/drawingml/2006/main">
            <a:r>
              <a:t>https://food-arena.eldamarchigiano.chatgpt.site/mandato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687d0bacd740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a9183ed8a24881" /><Relationship Type="http://schemas.openxmlformats.org/officeDocument/2006/relationships/slideLayout" Target="/ppt/slideLayouts/slideLayout1.xml" Id="R411853ad5d2742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1853ad5d2742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48e3035fc4e2e" /><Relationship Type="http://schemas.openxmlformats.org/officeDocument/2006/relationships/hyperlink" Target="https://food-arena.eldamarchigiano.chatgpt.site" TargetMode="External" Id="Re7f0f7edb3f447b5" /><Relationship Type="http://schemas.openxmlformats.org/officeDocument/2006/relationships/hyperlink" Target="https://github.com/SPAZIOZEROLAB/food-arena" TargetMode="External" Id="R5e2358958906432a" /><Relationship Type="http://schemas.openxmlformats.org/officeDocument/2006/relationships/hyperlink" Target="https://food-arena.eldamarchigiano.chatgpt.site/mandato" TargetMode="External" Id="Reb680fbb398541dd" /><Relationship Type="http://schemas.openxmlformats.org/officeDocument/2006/relationships/notesSlide" Target="/ppt/notesSlides/notesSlide1.xml" Id="R92274180f26743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c6042fb3f4e56" /><Relationship Type="http://schemas.openxmlformats.org/officeDocument/2006/relationships/hyperlink" Target="https://food-arena.eldamarchigiano.chatgpt.site" TargetMode="External" Id="Rfa3fb368e5154a61" /><Relationship Type="http://schemas.openxmlformats.org/officeDocument/2006/relationships/hyperlink" Target="https://github.com/SPAZIOZEROLAB/food-arena" TargetMode="External" Id="Rd9809d8feb7e4d13" /><Relationship Type="http://schemas.openxmlformats.org/officeDocument/2006/relationships/hyperlink" Target="https://food-arena.eldamarchigiano.chatgpt.site/mandato" TargetMode="External" Id="Re447fb8a7ee74a5c" /><Relationship Type="http://schemas.openxmlformats.org/officeDocument/2006/relationships/notesSlide" Target="/ppt/notesSlides/notesSlide2.xml" Id="Ra23a71bf28eb46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fb18cd7814348" /><Relationship Type="http://schemas.openxmlformats.org/officeDocument/2006/relationships/hyperlink" Target="https://food-arena.eldamarchigiano.chatgpt.site" TargetMode="External" Id="Rb9c8044289164be4" /><Relationship Type="http://schemas.openxmlformats.org/officeDocument/2006/relationships/hyperlink" Target="https://github.com/SPAZIOZEROLAB/food-arena" TargetMode="External" Id="Raba682f35d624914" /><Relationship Type="http://schemas.openxmlformats.org/officeDocument/2006/relationships/hyperlink" Target="https://food-arena.eldamarchigiano.chatgpt.site/mandato" TargetMode="External" Id="R91c914db9468498a" /><Relationship Type="http://schemas.openxmlformats.org/officeDocument/2006/relationships/notesSlide" Target="/ppt/notesSlides/notesSlide3.xml" Id="Rfa51129ba7ab43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5697c532048cc" /><Relationship Type="http://schemas.openxmlformats.org/officeDocument/2006/relationships/hyperlink" Target="https://food-arena.eldamarchigiano.chatgpt.site" TargetMode="External" Id="R1ac38a1fc65848e0" /><Relationship Type="http://schemas.openxmlformats.org/officeDocument/2006/relationships/hyperlink" Target="https://github.com/SPAZIOZEROLAB/food-arena" TargetMode="External" Id="R65d442a901444a3b" /><Relationship Type="http://schemas.openxmlformats.org/officeDocument/2006/relationships/hyperlink" Target="https://food-arena.eldamarchigiano.chatgpt.site/mandato" TargetMode="External" Id="Re25971e424934a0a" /><Relationship Type="http://schemas.openxmlformats.org/officeDocument/2006/relationships/notesSlide" Target="/ppt/notesSlides/notesSlide4.xml" Id="Rdaf0147785e54e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ba8fb24c34a11" /><Relationship Type="http://schemas.openxmlformats.org/officeDocument/2006/relationships/hyperlink" Target="https://food-arena.eldamarchigiano.chatgpt.site" TargetMode="External" Id="Rf634e51427e8460c" /><Relationship Type="http://schemas.openxmlformats.org/officeDocument/2006/relationships/hyperlink" Target="https://github.com/SPAZIOZEROLAB/food-arena" TargetMode="External" Id="Rad78025abe54486e" /><Relationship Type="http://schemas.openxmlformats.org/officeDocument/2006/relationships/hyperlink" Target="https://food-arena.eldamarchigiano.chatgpt.site/mandato" TargetMode="External" Id="R65ee0e2fe00a4655" /><Relationship Type="http://schemas.openxmlformats.org/officeDocument/2006/relationships/notesSlide" Target="/ppt/notesSlides/notesSlide5.xml" Id="R03ff17b9257e44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ab3e7a53543ba" /><Relationship Type="http://schemas.openxmlformats.org/officeDocument/2006/relationships/hyperlink" Target="https://food-arena.eldamarchigiano.chatgpt.site" TargetMode="External" Id="R17c62057d01c45cd" /><Relationship Type="http://schemas.openxmlformats.org/officeDocument/2006/relationships/hyperlink" Target="https://github.com/SPAZIOZEROLAB/food-arena" TargetMode="External" Id="Rc1fd4189f42c4dfd" /><Relationship Type="http://schemas.openxmlformats.org/officeDocument/2006/relationships/hyperlink" Target="https://food-arena.eldamarchigiano.chatgpt.site/mandato" TargetMode="External" Id="Rd7c158ffc94d40cc" /><Relationship Type="http://schemas.openxmlformats.org/officeDocument/2006/relationships/notesSlide" Target="/ppt/notesSlides/notesSlide6.xml" Id="R85b468d0d36a41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">
            <a:extLst xmlns:a="http://schemas.openxmlformats.org/drawingml/2006/main">
              <a:ext uri="{FF2B5EF4-FFF2-40B4-BE49-F238E27FC236}">
                <a16:creationId xmlns:a16="http://schemas.microsoft.com/office/drawing/2014/main" id="{7E317E8B-DF8E-4FD8-B93E-CE370698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400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Food Arena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17DB632-8CE3-46D2-8687-89B57C9F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7667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Il pranzo parte</a:t>
            </a:r>
          </a:p>
          <a:p xmlns:a="http://schemas.openxmlformats.org/drawingml/2006/main">
            <a:pPr>
              <a:buNone/>
              <a:defRPr sz="4800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dal tuo budget</a:t>
            </a:r>
          </a:p>
        </p:txBody>
      </p:sp>
      <p:sp>
        <p:nvSpPr>
          <p:cNvPr id="3" name="budget">
            <a:extLst xmlns:a="http://schemas.openxmlformats.org/drawingml/2006/main">
              <a:ext uri="{FF2B5EF4-FFF2-40B4-BE49-F238E27FC236}">
                <a16:creationId xmlns:a16="http://schemas.microsoft.com/office/drawing/2014/main" id="{248AB37D-1215-4976-966B-47C5BB52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62225"/>
            <a:ext cx="2809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650" b="1">
                <a:solidFill>
                  <a:srgbClr val="DE4528"/>
                </a:solidFill>
                <a:latin typeface="Arial"/>
                <a:ea typeface="Arial"/>
                <a:cs typeface="Arial"/>
              </a:defRPr>
            </a:pPr>
            <a:r>
              <a:rPr sz="7650" b="1">
                <a:solidFill>
                  <a:srgbClr val="DE4528"/>
                </a:solidFill>
                <a:latin typeface="Arial"/>
                <a:ea typeface="Arial"/>
                <a:cs typeface="Arial"/>
              </a:rPr>
              <a:t>10 €</a:t>
            </a:r>
          </a:p>
        </p:txBody>
      </p:sp>
      <p:sp>
        <p:nvSpPr>
          <p:cNvPr id="4" name="scenario">
            <a:extLst xmlns:a="http://schemas.openxmlformats.org/drawingml/2006/main">
              <a:ext uri="{FF2B5EF4-FFF2-40B4-BE49-F238E27FC236}">
                <a16:creationId xmlns:a16="http://schemas.microsoft.com/office/drawing/2014/main" id="{2223FAC7-977B-43A3-AEF5-431D1551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8382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Viale Pindaro, Pescara</a:t>
            </a:r>
          </a:p>
          <a:p xmlns:a="http://schemas.openxmlformats.org/drawingml/2006/main">
            <a:pPr>
              <a:buNone/>
              <a:defRPr sz="2175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Ritiro entro 30 minuti</a:t>
            </a:r>
          </a:p>
        </p:txBody>
      </p:sp>
      <p:sp>
        <p:nvSpPr>
          <p:cNvPr id="5" name="event">
            <a:extLst xmlns:a="http://schemas.openxmlformats.org/drawingml/2006/main">
              <a:ext uri="{FF2B5EF4-FFF2-40B4-BE49-F238E27FC236}">
                <a16:creationId xmlns:a16="http://schemas.microsoft.com/office/drawing/2014/main" id="{A8129632-FFE3-4CFC-9E8D-5B486B28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52950"/>
            <a:ext cx="2619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Team1 Hackathon</a:t>
            </a:r>
          </a:p>
          <a:p xmlns:a="http://schemas.openxmlformats.org/drawingml/2006/main">
            <a:pPr>
              <a:buNone/>
              <a:defRPr sz="1725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19 settembre 2026</a:t>
            </a:r>
          </a:p>
        </p:txBody>
      </p:sp>
      <p:sp>
        <p:nvSpPr>
          <p:cNvPr id="6" name="footer-app">
            <a:extLst xmlns:a="http://schemas.openxmlformats.org/drawingml/2006/main">
              <a:ext uri="{FF2B5EF4-FFF2-40B4-BE49-F238E27FC236}">
                <a16:creationId xmlns:a16="http://schemas.microsoft.com/office/drawing/2014/main" id="{28EAFBF4-3B97-49DF-AC4E-5CE014C5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e7f0f7edb3f447b5"/>
              </a:rPr>
              <a:t>Apri Food Arena</a:t>
            </a:r>
          </a:p>
        </p:txBody>
      </p:sp>
      <p:sp>
        <p:nvSpPr>
          <p:cNvPr id="7" name="footer-repo">
            <a:extLst xmlns:a="http://schemas.openxmlformats.org/drawingml/2006/main">
              <a:ext uri="{FF2B5EF4-FFF2-40B4-BE49-F238E27FC236}">
                <a16:creationId xmlns:a16="http://schemas.microsoft.com/office/drawing/2014/main" id="{DEA31F99-2FED-4AAD-8B39-5F37B574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5e2358958906432a"/>
              </a:rPr>
              <a:t>Codice GitHub</a:t>
            </a:r>
          </a:p>
        </p:txBody>
      </p:sp>
      <p:sp>
        <p:nvSpPr>
          <p:cNvPr id="8" name="footer-proof">
            <a:extLst xmlns:a="http://schemas.openxmlformats.org/drawingml/2006/main">
              <a:ext uri="{FF2B5EF4-FFF2-40B4-BE49-F238E27FC236}">
                <a16:creationId xmlns:a16="http://schemas.microsoft.com/office/drawing/2014/main" id="{33D710EE-2D76-4218-A9C2-510F6D48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eb680fbb398541dd"/>
              </a:rPr>
              <a:t>Mandato su Fuji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54D7DD4-E886-41F2-A06B-10AB1E5E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1 / 6</a:t>
            </a:r>
          </a:p>
        </p:txBody>
      </p:sp>
    </p:spTree>
    <p:extLst>
      <p:ext uri="{BB962C8B-B14F-4D97-AF65-F5344CB8AC3E}">
        <p14:creationId xmlns:p14="http://schemas.microsoft.com/office/powerpoint/2010/main" val="6555657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D1E8A077-607B-468C-AD16-007A199B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L’AI risponde per il locale</a:t>
            </a:r>
          </a:p>
        </p:txBody>
      </p:sp>
      <p:sp>
        <p:nvSpPr>
          <p:cNvPr id="2" name="disclosure">
            <a:extLst xmlns:a="http://schemas.openxmlformats.org/drawingml/2006/main">
              <a:ext uri="{FF2B5EF4-FFF2-40B4-BE49-F238E27FC236}">
                <a16:creationId xmlns:a16="http://schemas.microsoft.com/office/drawing/2014/main" id="{174DD932-B3CE-4982-AF3D-9DB1B5D0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DE45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E4528"/>
                </a:solidFill>
                <a:latin typeface="Arial"/>
                <a:ea typeface="Arial"/>
                <a:cs typeface="Arial"/>
              </a:rPr>
              <a:t>Menù e quantità decisi dal gestore</a:t>
            </a:r>
          </a:p>
        </p:txBody>
      </p:sp>
      <p:sp>
        <p:nvSpPr>
          <p:cNvPr id="3" name="venue-0">
            <a:extLst xmlns:a="http://schemas.openxmlformats.org/drawingml/2006/main">
              <a:ext uri="{FF2B5EF4-FFF2-40B4-BE49-F238E27FC236}">
                <a16:creationId xmlns:a16="http://schemas.microsoft.com/office/drawing/2014/main" id="{05339681-5092-496B-8BA9-EECE478E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Legge</a:t>
            </a:r>
          </a:p>
        </p:txBody>
      </p:sp>
      <p:sp>
        <p:nvSpPr>
          <p:cNvPr id="4" name="menu-0">
            <a:extLst xmlns:a="http://schemas.openxmlformats.org/drawingml/2006/main">
              <a:ext uri="{FF2B5EF4-FFF2-40B4-BE49-F238E27FC236}">
                <a16:creationId xmlns:a16="http://schemas.microsoft.com/office/drawing/2014/main" id="{4E7C0BBC-B03A-42B6-A47E-ED358169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52700"/>
            <a:ext cx="8810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Confronta la richiesta con il menù.</a:t>
            </a:r>
          </a:p>
        </p:txBody>
      </p:sp>
      <p:sp>
        <p:nvSpPr>
          <p:cNvPr id="5" name="price-0">
            <a:extLst xmlns:a="http://schemas.openxmlformats.org/drawingml/2006/main">
              <a:ext uri="{FF2B5EF4-FFF2-40B4-BE49-F238E27FC236}">
                <a16:creationId xmlns:a16="http://schemas.microsoft.com/office/drawing/2014/main" id="{FE176BA8-B6BD-4C4E-B1BD-D7EC0F1F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DE45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DE4528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venue-1">
            <a:extLst xmlns:a="http://schemas.openxmlformats.org/drawingml/2006/main">
              <a:ext uri="{FF2B5EF4-FFF2-40B4-BE49-F238E27FC236}">
                <a16:creationId xmlns:a16="http://schemas.microsoft.com/office/drawing/2014/main" id="{10F98837-74E9-4327-B36B-5A73832E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Propone</a:t>
            </a:r>
          </a:p>
        </p:txBody>
      </p:sp>
      <p:sp>
        <p:nvSpPr>
          <p:cNvPr id="7" name="menu-1">
            <a:extLst xmlns:a="http://schemas.openxmlformats.org/drawingml/2006/main">
              <a:ext uri="{FF2B5EF4-FFF2-40B4-BE49-F238E27FC236}">
                <a16:creationId xmlns:a16="http://schemas.microsoft.com/office/drawing/2014/main" id="{01D3F986-D87C-4989-83FB-A28ADFEE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09950"/>
            <a:ext cx="8810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Invia una proposta autorizzata e la firma.</a:t>
            </a:r>
          </a:p>
        </p:txBody>
      </p:sp>
      <p:sp>
        <p:nvSpPr>
          <p:cNvPr id="8" name="price-1">
            <a:extLst xmlns:a="http://schemas.openxmlformats.org/drawingml/2006/main">
              <a:ext uri="{FF2B5EF4-FFF2-40B4-BE49-F238E27FC236}">
                <a16:creationId xmlns:a16="http://schemas.microsoft.com/office/drawing/2014/main" id="{C454C1F3-3359-4C85-809F-F057CD06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7185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DE45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DE4528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" name="venue-2">
            <a:extLst xmlns:a="http://schemas.openxmlformats.org/drawingml/2006/main">
              <a:ext uri="{FF2B5EF4-FFF2-40B4-BE49-F238E27FC236}">
                <a16:creationId xmlns:a16="http://schemas.microsoft.com/office/drawing/2014/main" id="{4051DDAF-6C7B-4C6A-AC8E-0DB07CC9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Si ferma</a:t>
            </a:r>
          </a:p>
        </p:txBody>
      </p:sp>
      <p:sp>
        <p:nvSpPr>
          <p:cNvPr id="10" name="menu-2">
            <a:extLst xmlns:a="http://schemas.openxmlformats.org/drawingml/2006/main">
              <a:ext uri="{FF2B5EF4-FFF2-40B4-BE49-F238E27FC236}">
                <a16:creationId xmlns:a16="http://schemas.microsoft.com/office/drawing/2014/main" id="{2C5FBE2C-FE28-4A7C-ABCD-858FA5E6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67200"/>
            <a:ext cx="8810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Niente proposte senza mandato o budget.</a:t>
            </a:r>
          </a:p>
        </p:txBody>
      </p:sp>
      <p:sp>
        <p:nvSpPr>
          <p:cNvPr id="11" name="price-2">
            <a:extLst xmlns:a="http://schemas.openxmlformats.org/drawingml/2006/main">
              <a:ext uri="{FF2B5EF4-FFF2-40B4-BE49-F238E27FC236}">
                <a16:creationId xmlns:a16="http://schemas.microsoft.com/office/drawing/2014/main" id="{BFB3E52B-C46C-4F02-B81E-603C8DE4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6720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DE45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DE4528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" name="choice">
            <a:extLst xmlns:a="http://schemas.openxmlformats.org/drawingml/2006/main">
              <a:ext uri="{FF2B5EF4-FFF2-40B4-BE49-F238E27FC236}">
                <a16:creationId xmlns:a16="http://schemas.microsoft.com/office/drawing/2014/main" id="{DE5DBB98-3560-49D3-AA4D-1661D700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668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AI nel browser, senza API key. Il pannello deve restare aperto.</a:t>
            </a:r>
          </a:p>
          <a:p xmlns:a="http://schemas.openxmlformats.org/drawingml/2006/main">
            <a:pPr>
              <a:buNone/>
              <a:defRPr sz="2025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Il cliente può ordinare le offerte per affinità.</a:t>
            </a:r>
          </a:p>
        </p:txBody>
      </p:sp>
      <p:sp>
        <p:nvSpPr>
          <p:cNvPr id="13" name="footer-app">
            <a:extLst xmlns:a="http://schemas.openxmlformats.org/drawingml/2006/main">
              <a:ext uri="{FF2B5EF4-FFF2-40B4-BE49-F238E27FC236}">
                <a16:creationId xmlns:a16="http://schemas.microsoft.com/office/drawing/2014/main" id="{51B0933E-3051-4ED1-815B-293B2CF6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fa3fb368e5154a61"/>
              </a:rPr>
              <a:t>Apri Food Arena</a:t>
            </a:r>
          </a:p>
        </p:txBody>
      </p:sp>
      <p:sp>
        <p:nvSpPr>
          <p:cNvPr id="14" name="footer-repo">
            <a:extLst xmlns:a="http://schemas.openxmlformats.org/drawingml/2006/main">
              <a:ext uri="{FF2B5EF4-FFF2-40B4-BE49-F238E27FC236}">
                <a16:creationId xmlns:a16="http://schemas.microsoft.com/office/drawing/2014/main" id="{11EBD34E-F742-4EED-B0B7-61DA43FE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d9809d8feb7e4d13"/>
              </a:rPr>
              <a:t>Codice GitHub</a:t>
            </a:r>
          </a:p>
        </p:txBody>
      </p:sp>
      <p:sp>
        <p:nvSpPr>
          <p:cNvPr id="15" name="footer-proof">
            <a:extLst xmlns:a="http://schemas.openxmlformats.org/drawingml/2006/main">
              <a:ext uri="{FF2B5EF4-FFF2-40B4-BE49-F238E27FC236}">
                <a16:creationId xmlns:a16="http://schemas.microsoft.com/office/drawing/2014/main" id="{D3D6EBE9-9C47-4C61-A116-F95E2D03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e447fb8a7ee74a5c"/>
              </a:rPr>
              <a:t>Mandato su Fuji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4675A31-6EFC-43B0-9698-3051E84B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2 / 6</a:t>
            </a:r>
          </a:p>
        </p:txBody>
      </p:sp>
    </p:spTree>
    <p:extLst>
      <p:ext uri="{BB962C8B-B14F-4D97-AF65-F5344CB8AC3E}">
        <p14:creationId xmlns:p14="http://schemas.microsoft.com/office/powerpoint/2010/main" val="8651886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0107EC5C-1AFF-486B-A6B1-F23D5815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75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La commissione resta nel contratto</a:t>
            </a:r>
          </a:p>
        </p:txBody>
      </p:sp>
      <p:sp>
        <p:nvSpPr>
          <p:cNvPr id="2" name="merchant-heading">
            <a:extLst xmlns:a="http://schemas.openxmlformats.org/drawingml/2006/main">
              <a:ext uri="{FF2B5EF4-FFF2-40B4-BE49-F238E27FC236}">
                <a16:creationId xmlns:a16="http://schemas.microsoft.com/office/drawing/2014/main" id="{2693B42C-5F91-42C1-9159-D75C09F6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566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DE45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E4528"/>
                </a:solidFill>
                <a:latin typeface="Arial"/>
                <a:ea typeface="Arial"/>
                <a:cs typeface="Arial"/>
              </a:rPr>
              <a:t>Il gestore autorizza</a:t>
            </a:r>
          </a:p>
        </p:txBody>
      </p:sp>
      <p:sp>
        <p:nvSpPr>
          <p:cNvPr id="3" name="merchant-body">
            <a:extLst xmlns:a="http://schemas.openxmlformats.org/drawingml/2006/main">
              <a:ext uri="{FF2B5EF4-FFF2-40B4-BE49-F238E27FC236}">
                <a16:creationId xmlns:a16="http://schemas.microsoft.com/office/drawing/2014/main" id="{66FC7C78-C156-458E-8793-9D1DF522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5857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Firma EIP-712 dal browser.</a:t>
            </a:r>
          </a:p>
          <a:p xmlns:a="http://schemas.openxmlformats.org/drawingml/2006/main">
            <a:pPr>
              <a:buNone/>
              <a:defRPr sz="2325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Approva beneficiario e limiti.</a:t>
            </a:r>
          </a:p>
          <a:p xmlns:a="http://schemas.openxmlformats.org/drawingml/2006/main">
            <a:pPr>
              <a:buNone/>
              <a:defRPr sz="2325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La chiave resta sul dispositivo.</a:t>
            </a:r>
          </a:p>
        </p:txBody>
      </p:sp>
      <p:sp>
        <p:nvSpPr>
          <p:cNvPr id="4" name="customer-heading">
            <a:extLst xmlns:a="http://schemas.openxmlformats.org/drawingml/2006/main">
              <a:ext uri="{FF2B5EF4-FFF2-40B4-BE49-F238E27FC236}">
                <a16:creationId xmlns:a16="http://schemas.microsoft.com/office/drawing/2014/main" id="{440CB097-B452-4897-98AC-88A2C9FD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383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DE45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E4528"/>
                </a:solidFill>
                <a:latin typeface="Arial"/>
                <a:ea typeface="Arial"/>
                <a:cs typeface="Arial"/>
              </a:rPr>
              <a:t>Avalanche applica</a:t>
            </a:r>
          </a:p>
        </p:txBody>
      </p:sp>
      <p:sp>
        <p:nvSpPr>
          <p:cNvPr id="5" name="customer-body">
            <a:extLst xmlns:a="http://schemas.openxmlformats.org/drawingml/2006/main">
              <a:ext uri="{FF2B5EF4-FFF2-40B4-BE49-F238E27FC236}">
                <a16:creationId xmlns:a16="http://schemas.microsoft.com/office/drawing/2014/main" id="{541A30AF-AB03-4202-9926-6A02595D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384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Custodisce test AVAX.</a:t>
            </a:r>
          </a:p>
          <a:p xmlns:a="http://schemas.openxmlformats.org/drawingml/2006/main">
            <a:pPr>
              <a:buNone/>
              <a:defRPr sz="2250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Riserva la commissione.</a:t>
            </a:r>
          </a:p>
          <a:p xmlns:a="http://schemas.openxmlformats.org/drawingml/2006/main">
            <a:pPr>
              <a:buNone/>
              <a:defRPr sz="2250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Respinge spese oltre limite.</a:t>
            </a:r>
          </a:p>
        </p:txBody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A7D6EAF3-AB46-4506-9CB3-24DC1D74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Prova finanziata dallo sponsor, senza denaro reale.</a:t>
            </a:r>
          </a:p>
          <a:p xmlns:a="http://schemas.openxmlformats.org/drawingml/2006/main">
            <a:pPr>
              <a:buNone/>
              <a:defRPr sz="1875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Gestore distinto dal relayer. Nella demo relayer e beneficiario coincidono.</a:t>
            </a:r>
          </a:p>
        </p:txBody>
      </p:sp>
      <p:sp>
        <p:nvSpPr>
          <p:cNvPr id="7" name="footer-app">
            <a:extLst xmlns:a="http://schemas.openxmlformats.org/drawingml/2006/main">
              <a:ext uri="{FF2B5EF4-FFF2-40B4-BE49-F238E27FC236}">
                <a16:creationId xmlns:a16="http://schemas.microsoft.com/office/drawing/2014/main" id="{F5FD61E1-D964-4214-B507-41538593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b9c8044289164be4"/>
              </a:rPr>
              <a:t>Apri Food Arena</a:t>
            </a:r>
          </a:p>
        </p:txBody>
      </p:sp>
      <p:sp>
        <p:nvSpPr>
          <p:cNvPr id="8" name="footer-repo">
            <a:extLst xmlns:a="http://schemas.openxmlformats.org/drawingml/2006/main">
              <a:ext uri="{FF2B5EF4-FFF2-40B4-BE49-F238E27FC236}">
                <a16:creationId xmlns:a16="http://schemas.microsoft.com/office/drawing/2014/main" id="{ED2AA39E-CE04-4AC2-8943-C82A0C62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aba682f35d624914"/>
              </a:rPr>
              <a:t>Codice GitHub</a:t>
            </a:r>
          </a:p>
        </p:txBody>
      </p:sp>
      <p:sp>
        <p:nvSpPr>
          <p:cNvPr id="9" name="footer-proof">
            <a:extLst xmlns:a="http://schemas.openxmlformats.org/drawingml/2006/main">
              <a:ext uri="{FF2B5EF4-FFF2-40B4-BE49-F238E27FC236}">
                <a16:creationId xmlns:a16="http://schemas.microsoft.com/office/drawing/2014/main" id="{5E7A2493-46AD-408F-9BFB-69FC7837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91c914db9468498a"/>
              </a:rPr>
              <a:t>Mandato su Fuji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632D184-1C05-4622-ACCC-FDDA010A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3 / 6</a:t>
            </a:r>
          </a:p>
        </p:txBody>
      </p:sp>
    </p:spTree>
    <p:extLst>
      <p:ext uri="{BB962C8B-B14F-4D97-AF65-F5344CB8AC3E}">
        <p14:creationId xmlns:p14="http://schemas.microsoft.com/office/powerpoint/2010/main" val="1156730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2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D5A2E957-D85D-48BC-94E4-0B1B75BC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75" b="1">
                <a:solidFill>
                  <a:srgbClr val="F6F4ED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6F4ED"/>
                </a:solidFill>
                <a:latin typeface="Arial"/>
                <a:ea typeface="Arial"/>
                <a:cs typeface="Arial"/>
              </a:rPr>
              <a:t>Scelta, ritiro e scadenza su Fuji</a:t>
            </a:r>
          </a:p>
        </p:txBody>
      </p:sp>
      <p:sp>
        <p:nvSpPr>
          <p:cNvPr id="2" name="chain">
            <a:extLst xmlns:a="http://schemas.openxmlformats.org/drawingml/2006/main">
              <a:ext uri="{FF2B5EF4-FFF2-40B4-BE49-F238E27FC236}">
                <a16:creationId xmlns:a16="http://schemas.microsoft.com/office/drawing/2014/main" id="{7A1F7AE1-B255-4E18-9E0D-B4707CCD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2428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EAFF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AFF78"/>
                </a:solidFill>
                <a:latin typeface="Arial"/>
                <a:ea typeface="Arial"/>
                <a:cs typeface="Arial"/>
              </a:rPr>
              <a:t>Scelta</a:t>
            </a:r>
          </a:p>
          <a:p xmlns:a="http://schemas.openxmlformats.org/drawingml/2006/main">
            <a:pPr>
              <a:buNone/>
              <a:defRPr sz="2400" b="1">
                <a:solidFill>
                  <a:srgbClr val="EAFF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AFF78"/>
                </a:solidFill>
                <a:latin typeface="Arial"/>
                <a:ea typeface="Arial"/>
                <a:cs typeface="Arial"/>
              </a:rPr>
              <a:t>Ritiro</a:t>
            </a:r>
          </a:p>
          <a:p xmlns:a="http://schemas.openxmlformats.org/drawingml/2006/main">
            <a:pPr>
              <a:buNone/>
              <a:defRPr sz="2400" b="1">
                <a:solidFill>
                  <a:srgbClr val="EAFF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AFF78"/>
                </a:solidFill>
                <a:latin typeface="Arial"/>
                <a:ea typeface="Arial"/>
                <a:cs typeface="Arial"/>
              </a:rPr>
              <a:t>Scadenza</a:t>
            </a:r>
          </a:p>
        </p:txBody>
      </p:sp>
      <p:sp>
        <p:nvSpPr>
          <p:cNvPr id="3" name="chain-label">
            <a:extLst xmlns:a="http://schemas.openxmlformats.org/drawingml/2006/main">
              <a:ext uri="{FF2B5EF4-FFF2-40B4-BE49-F238E27FC236}">
                <a16:creationId xmlns:a16="http://schemas.microsoft.com/office/drawing/2014/main" id="{A250AF9E-C182-411F-8362-4E3E63EE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85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6F4E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6F4ED"/>
                </a:solidFill>
                <a:latin typeface="Arial"/>
                <a:ea typeface="Arial"/>
                <a:cs typeface="Arial"/>
              </a:rPr>
              <a:t>12 scelte concorrenti, una sola riserva</a:t>
            </a:r>
          </a:p>
        </p:txBody>
      </p:sp>
      <p:sp>
        <p:nvSpPr>
          <p:cNvPr id="4" name="proof-result">
            <a:extLst xmlns:a="http://schemas.openxmlformats.org/drawingml/2006/main">
              <a:ext uri="{FF2B5EF4-FFF2-40B4-BE49-F238E27FC236}">
                <a16:creationId xmlns:a16="http://schemas.microsoft.com/office/drawing/2014/main" id="{5CA14088-278E-41AA-938E-596695AA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24100"/>
            <a:ext cx="80200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F6F4E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6F4ED"/>
                </a:solidFill>
                <a:latin typeface="Arial"/>
                <a:ea typeface="Arial"/>
                <a:cs typeface="Arial"/>
              </a:rPr>
              <a:t>La commissione entra in riserva.</a:t>
            </a:r>
          </a:p>
          <a:p xmlns:a="http://schemas.openxmlformats.org/drawingml/2006/main">
            <a:pPr>
              <a:buNone/>
              <a:defRPr sz="2400" b="0">
                <a:solidFill>
                  <a:srgbClr val="F6F4E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6F4ED"/>
                </a:solidFill>
                <a:latin typeface="Arial"/>
                <a:ea typeface="Arial"/>
                <a:cs typeface="Arial"/>
              </a:rPr>
              <a:t>Una seconda firma accredita il beneficiario.</a:t>
            </a:r>
          </a:p>
          <a:p xmlns:a="http://schemas.openxmlformats.org/drawingml/2006/main">
            <a:pPr>
              <a:buNone/>
              <a:defRPr sz="2400" b="0">
                <a:solidFill>
                  <a:srgbClr val="F6F4E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6F4ED"/>
                </a:solidFill>
                <a:latin typeface="Arial"/>
                <a:ea typeface="Arial"/>
                <a:cs typeface="Arial"/>
              </a:rPr>
              <a:t>Una transazione libera il budget inutilizzato.</a:t>
            </a:r>
          </a:p>
        </p:txBody>
      </p:sp>
      <p:sp>
        <p:nvSpPr>
          <p:cNvPr id="5" name="meaning">
            <a:extLst xmlns:a="http://schemas.openxmlformats.org/drawingml/2006/main">
              <a:ext uri="{FF2B5EF4-FFF2-40B4-BE49-F238E27FC236}">
                <a16:creationId xmlns:a16="http://schemas.microsoft.com/office/drawing/2014/main" id="{4398C0B7-131C-4312-918B-B4A1F5FE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6F4E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4ED"/>
                </a:solidFill>
                <a:latin typeface="Arial"/>
                <a:ea typeface="Arial"/>
                <a:cs typeface="Arial"/>
              </a:rPr>
              <a:t>Stato e transazioni disponibili nella pagina del mandato.</a:t>
            </a:r>
          </a:p>
          <a:p xmlns:a="http://schemas.openxmlformats.org/drawingml/2006/main">
            <a:pPr>
              <a:buNone/>
              <a:defRPr sz="1800" b="0">
                <a:solidFill>
                  <a:srgbClr val="F6F4E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F4ED"/>
                </a:solidFill>
                <a:latin typeface="Arial"/>
                <a:ea typeface="Arial"/>
                <a:cs typeface="Arial"/>
              </a:rPr>
              <a:t>Il ritiro resta un’attestazione del gestore.</a:t>
            </a:r>
          </a:p>
        </p:txBody>
      </p:sp>
      <p:sp>
        <p:nvSpPr>
          <p:cNvPr id="6" name="limit">
            <a:extLst xmlns:a="http://schemas.openxmlformats.org/drawingml/2006/main">
              <a:ext uri="{FF2B5EF4-FFF2-40B4-BE49-F238E27FC236}">
                <a16:creationId xmlns:a16="http://schemas.microsoft.com/office/drawing/2014/main" id="{8B867E37-E47D-4975-A7C4-46FE7FD8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1047750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EAFF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AFF78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7" name="footer-app">
            <a:extLst xmlns:a="http://schemas.openxmlformats.org/drawingml/2006/main">
              <a:ext uri="{FF2B5EF4-FFF2-40B4-BE49-F238E27FC236}">
                <a16:creationId xmlns:a16="http://schemas.microsoft.com/office/drawing/2014/main" id="{E1DE6655-AE2A-43C0-B962-EA91055C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6F4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4ED"/>
                </a:solidFill>
                <a:latin typeface="Arial"/>
                <a:ea typeface="Arial"/>
                <a:cs typeface="Arial"/>
                <a:hlinkClick xmlns:r="http://schemas.openxmlformats.org/officeDocument/2006/relationships" r:id="R1ac38a1fc65848e0"/>
              </a:rPr>
              <a:t>Apri Food Arena</a:t>
            </a:r>
          </a:p>
        </p:txBody>
      </p:sp>
      <p:sp>
        <p:nvSpPr>
          <p:cNvPr id="8" name="footer-repo">
            <a:extLst xmlns:a="http://schemas.openxmlformats.org/drawingml/2006/main">
              <a:ext uri="{FF2B5EF4-FFF2-40B4-BE49-F238E27FC236}">
                <a16:creationId xmlns:a16="http://schemas.microsoft.com/office/drawing/2014/main" id="{CE20D2E7-0C2D-4486-AE6B-C5409569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6F4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4ED"/>
                </a:solidFill>
                <a:latin typeface="Arial"/>
                <a:ea typeface="Arial"/>
                <a:cs typeface="Arial"/>
                <a:hlinkClick xmlns:r="http://schemas.openxmlformats.org/officeDocument/2006/relationships" r:id="R65d442a901444a3b"/>
              </a:rPr>
              <a:t>Codice GitHub</a:t>
            </a:r>
          </a:p>
        </p:txBody>
      </p:sp>
      <p:sp>
        <p:nvSpPr>
          <p:cNvPr id="9" name="footer-proof">
            <a:extLst xmlns:a="http://schemas.openxmlformats.org/drawingml/2006/main">
              <a:ext uri="{FF2B5EF4-FFF2-40B4-BE49-F238E27FC236}">
                <a16:creationId xmlns:a16="http://schemas.microsoft.com/office/drawing/2014/main" id="{4F8CCFDF-7E76-41BC-8028-3762A9B9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6F4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4ED"/>
                </a:solidFill>
                <a:latin typeface="Arial"/>
                <a:ea typeface="Arial"/>
                <a:cs typeface="Arial"/>
                <a:hlinkClick xmlns:r="http://schemas.openxmlformats.org/officeDocument/2006/relationships" r:id="Re25971e424934a0a"/>
              </a:rPr>
              <a:t>Mandato su Fuji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4B843D5-4BD0-4658-A587-D3522AB5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6F4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4ED"/>
                </a:solidFill>
                <a:latin typeface="Arial"/>
                <a:ea typeface="Arial"/>
                <a:cs typeface="Arial"/>
              </a:rPr>
              <a:t>4 / 6</a:t>
            </a:r>
          </a:p>
        </p:txBody>
      </p:sp>
    </p:spTree>
    <p:extLst>
      <p:ext uri="{BB962C8B-B14F-4D97-AF65-F5344CB8AC3E}">
        <p14:creationId xmlns:p14="http://schemas.microsoft.com/office/powerpoint/2010/main" val="5472073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AFF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5DD3A907-80E4-488E-AA35-A07BA0C5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275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Il primo test in Viale Pindaro</a:t>
            </a:r>
          </a:p>
        </p:txBody>
      </p:sp>
      <p:sp>
        <p:nvSpPr>
          <p:cNvPr id="2" name="pilot">
            <a:extLst xmlns:a="http://schemas.openxmlformats.org/drawingml/2006/main">
              <a:ext uri="{FF2B5EF4-FFF2-40B4-BE49-F238E27FC236}">
                <a16:creationId xmlns:a16="http://schemas.microsoft.com/office/drawing/2014/main" id="{CED8F116-4688-4C36-A650-DC543AAE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106680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2 locali, 10 studenti</a:t>
            </a:r>
          </a:p>
          <a:p xmlns:a="http://schemas.openxmlformats.org/drawingml/2006/main">
            <a:pPr>
              <a:buNone/>
              <a:defRPr sz="4950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5 giorni di pranzo</a:t>
            </a:r>
          </a:p>
        </p:txBody>
      </p:sp>
      <p:sp>
        <p:nvSpPr>
          <p:cNvPr id="3" name="metrics">
            <a:extLst xmlns:a="http://schemas.openxmlformats.org/drawingml/2006/main">
              <a:ext uri="{FF2B5EF4-FFF2-40B4-BE49-F238E27FC236}">
                <a16:creationId xmlns:a16="http://schemas.microsoft.com/office/drawing/2014/main" id="{E02F1590-83BB-41BA-A93A-3B7BA4EB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Misuriamo ritiri completati, tempi e lavoro del gestore.</a:t>
            </a:r>
          </a:p>
        </p:txBody>
      </p:sp>
      <p:sp>
        <p:nvSpPr>
          <p:cNvPr id="4" name="pricing">
            <a:extLst xmlns:a="http://schemas.openxmlformats.org/drawingml/2006/main">
              <a:ext uri="{FF2B5EF4-FFF2-40B4-BE49-F238E27FC236}">
                <a16:creationId xmlns:a16="http://schemas.microsoft.com/office/drawing/2014/main" id="{55736649-ECF3-49C6-957D-97163711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Ipotesi dopo il pilota: 0,30 € a ritiro, a carico del locale.</a:t>
            </a:r>
          </a:p>
        </p:txBody>
      </p:sp>
      <p:sp>
        <p:nvSpPr>
          <p:cNvPr id="5" name="honesty">
            <a:extLst xmlns:a="http://schemas.openxmlformats.org/drawingml/2006/main">
              <a:ext uri="{FF2B5EF4-FFF2-40B4-BE49-F238E27FC236}">
                <a16:creationId xmlns:a16="http://schemas.microsoft.com/office/drawing/2014/main" id="{A5FDE04E-37FC-4C2E-9DDE-5D4E4DCA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744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Zero partner aderenti oggi. Tariffa non attiva.</a:t>
            </a:r>
          </a:p>
          <a:p xmlns:a="http://schemas.openxmlformats.org/drawingml/2006/main">
            <a:pPr>
              <a:buNone/>
              <a:defRPr sz="1800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Nessuna conversione fra euro e test AVAX.</a:t>
            </a:r>
          </a:p>
        </p:txBody>
      </p:sp>
      <p:sp>
        <p:nvSpPr>
          <p:cNvPr id="6" name="footer-app">
            <a:extLst xmlns:a="http://schemas.openxmlformats.org/drawingml/2006/main">
              <a:ext uri="{FF2B5EF4-FFF2-40B4-BE49-F238E27FC236}">
                <a16:creationId xmlns:a16="http://schemas.microsoft.com/office/drawing/2014/main" id="{0BEF94C9-5AA8-4C63-B360-09EE5553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f634e51427e8460c"/>
              </a:rPr>
              <a:t>Apri Food Arena</a:t>
            </a:r>
          </a:p>
        </p:txBody>
      </p:sp>
      <p:sp>
        <p:nvSpPr>
          <p:cNvPr id="7" name="footer-repo">
            <a:extLst xmlns:a="http://schemas.openxmlformats.org/drawingml/2006/main">
              <a:ext uri="{FF2B5EF4-FFF2-40B4-BE49-F238E27FC236}">
                <a16:creationId xmlns:a16="http://schemas.microsoft.com/office/drawing/2014/main" id="{9A579DE2-E27F-42B9-884D-A9413514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ad78025abe54486e"/>
              </a:rPr>
              <a:t>Codice GitHub</a:t>
            </a:r>
          </a:p>
        </p:txBody>
      </p:sp>
      <p:sp>
        <p:nvSpPr>
          <p:cNvPr id="8" name="footer-proof">
            <a:extLst xmlns:a="http://schemas.openxmlformats.org/drawingml/2006/main">
              <a:ext uri="{FF2B5EF4-FFF2-40B4-BE49-F238E27FC236}">
                <a16:creationId xmlns:a16="http://schemas.microsoft.com/office/drawing/2014/main" id="{37A702C0-91BF-4C14-8266-2B4DF3B2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65ee0e2fe00a4655"/>
              </a:rPr>
              <a:t>Mandato su Fuji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0CC2195-6E81-4348-ACA4-85B2028C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5 / 6</a:t>
            </a:r>
          </a:p>
        </p:txBody>
      </p:sp>
    </p:spTree>
    <p:extLst>
      <p:ext uri="{BB962C8B-B14F-4D97-AF65-F5344CB8AC3E}">
        <p14:creationId xmlns:p14="http://schemas.microsoft.com/office/powerpoint/2010/main" val="6704224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00915DFC-21E0-4B0E-A4A1-6BFC03EF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211F"/>
                </a:solidFill>
                <a:latin typeface="Arial"/>
                <a:ea typeface="Arial"/>
                <a:cs typeface="Arial"/>
              </a:rPr>
              <a:t>Demo, codice e mandato verificabile</a:t>
            </a:r>
          </a:p>
        </p:txBody>
      </p:sp>
      <p:sp>
        <p:nvSpPr>
          <p:cNvPr id="2" name="ask">
            <a:extLst xmlns:a="http://schemas.openxmlformats.org/drawingml/2006/main">
              <a:ext uri="{FF2B5EF4-FFF2-40B4-BE49-F238E27FC236}">
                <a16:creationId xmlns:a16="http://schemas.microsoft.com/office/drawing/2014/main" id="{3C728565-D286-4814-A214-51EC26A5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10820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DE4528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DE4528"/>
                </a:solidFill>
                <a:latin typeface="Arial"/>
                <a:ea typeface="Arial"/>
                <a:cs typeface="Arial"/>
              </a:rPr>
              <a:t>Due locali, cinque giorni</a:t>
            </a:r>
          </a:p>
          <a:p xmlns:a="http://schemas.openxmlformats.org/drawingml/2006/main">
            <a:pPr>
              <a:buNone/>
              <a:defRPr sz="4650" b="1">
                <a:solidFill>
                  <a:srgbClr val="DE4528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DE4528"/>
                </a:solidFill>
                <a:latin typeface="Arial"/>
                <a:ea typeface="Arial"/>
                <a:cs typeface="Arial"/>
              </a:rPr>
              <a:t>per provare il servizio</a:t>
            </a:r>
          </a:p>
        </p:txBody>
      </p:sp>
      <p:sp>
        <p:nvSpPr>
          <p:cNvPr id="3" name="assets">
            <a:extLst xmlns:a="http://schemas.openxmlformats.org/drawingml/2006/main">
              <a:ext uri="{FF2B5EF4-FFF2-40B4-BE49-F238E27FC236}">
                <a16:creationId xmlns:a16="http://schemas.microsoft.com/office/drawing/2014/main" id="{3987BADB-FC2B-4120-B6C1-5B53D744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Arena demo: Forno, Verde e Bowl sono locali fittizi.</a:t>
            </a:r>
          </a:p>
          <a:p xmlns:a="http://schemas.openxmlformats.org/drawingml/2006/main">
            <a:pPr>
              <a:buNone/>
              <a:defRPr sz="2100" b="0">
                <a:solidFill>
                  <a:srgbClr val="1721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11F"/>
                </a:solidFill>
                <a:latin typeface="Arial"/>
                <a:ea typeface="Arial"/>
                <a:cs typeface="Arial"/>
              </a:rPr>
              <a:t>Prove economiche solo su Fuji, chain ID 43113.</a:t>
            </a:r>
          </a:p>
        </p:txBody>
      </p:sp>
      <p:sp>
        <p:nvSpPr>
          <p:cNvPr id="4" name="open-source">
            <a:extLst xmlns:a="http://schemas.openxmlformats.org/drawingml/2006/main">
              <a:ext uri="{FF2B5EF4-FFF2-40B4-BE49-F238E27FC236}">
                <a16:creationId xmlns:a16="http://schemas.microsoft.com/office/drawing/2014/main" id="{A8E178C3-05E0-449C-97DF-8E9FD32C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620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Codice pubblico MIT, senza scadenza della licenza.</a:t>
            </a:r>
          </a:p>
          <a:p xmlns:a="http://schemas.openxmlformats.org/drawingml/2006/main">
            <a:pPr>
              <a:buNone/>
              <a:defRPr sz="1875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Repository aperto almeno fino al 19 dicembre 2026.</a:t>
            </a:r>
          </a:p>
        </p:txBody>
      </p:sp>
      <p:sp>
        <p:nvSpPr>
          <p:cNvPr id="5" name="footer-app">
            <a:extLst xmlns:a="http://schemas.openxmlformats.org/drawingml/2006/main">
              <a:ext uri="{FF2B5EF4-FFF2-40B4-BE49-F238E27FC236}">
                <a16:creationId xmlns:a16="http://schemas.microsoft.com/office/drawing/2014/main" id="{2600B2A8-30BA-48BB-9059-2E930555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17c62057d01c45cd"/>
              </a:rPr>
              <a:t>Apri Food Arena</a:t>
            </a:r>
          </a:p>
        </p:txBody>
      </p:sp>
      <p:sp>
        <p:nvSpPr>
          <p:cNvPr id="6" name="footer-repo">
            <a:extLst xmlns:a="http://schemas.openxmlformats.org/drawingml/2006/main">
              <a:ext uri="{FF2B5EF4-FFF2-40B4-BE49-F238E27FC236}">
                <a16:creationId xmlns:a16="http://schemas.microsoft.com/office/drawing/2014/main" id="{C6A73989-2875-4BFB-9156-57AAB1FB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c1fd4189f42c4dfd"/>
              </a:rPr>
              <a:t>Codice GitHub</a:t>
            </a:r>
          </a:p>
        </p:txBody>
      </p:sp>
      <p:sp>
        <p:nvSpPr>
          <p:cNvPr id="7" name="footer-proof">
            <a:extLst xmlns:a="http://schemas.openxmlformats.org/drawingml/2006/main">
              <a:ext uri="{FF2B5EF4-FFF2-40B4-BE49-F238E27FC236}">
                <a16:creationId xmlns:a16="http://schemas.microsoft.com/office/drawing/2014/main" id="{447B2F8E-E59E-4084-AF0F-D3ECB1CF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  <a:hlinkClick xmlns:r="http://schemas.openxmlformats.org/officeDocument/2006/relationships" r:id="Rd7c158ffc94d40cc"/>
              </a:rPr>
              <a:t>Mandato su Fuji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8E3DC19-5EAB-4BCC-87B0-CD77027A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F68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1"/>
                </a:solidFill>
                <a:latin typeface="Arial"/>
                <a:ea typeface="Arial"/>
                <a:cs typeface="Arial"/>
              </a:rPr>
              <a:t>6 / 6</a:t>
            </a:r>
          </a:p>
        </p:txBody>
      </p:sp>
    </p:spTree>
    <p:extLst>
      <p:ext uri="{BB962C8B-B14F-4D97-AF65-F5344CB8AC3E}">
        <p14:creationId xmlns:p14="http://schemas.microsoft.com/office/powerpoint/2010/main" val="8885673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2026-09-19T12:48:53.2160000Z</dcterms:created>
  <dcterms:modified xsi:type="dcterms:W3CDTF">2026-09-19T12:48:53.2160000Z</dcterms:modified>
</coreProperties>
</file>
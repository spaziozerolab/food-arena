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7a9456757a4f83" /><Relationship Type="http://schemas.openxmlformats.org/officeDocument/2006/relationships/extended-properties" Target="/docProps/app.xml" Id="Rdf618630505f48e8" /><Relationship Type="http://schemas.openxmlformats.org/officeDocument/2006/relationships/officeDocument" Target="/ppt/presentation.xml" Id="Rf5d0c05954364e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2f21a02cd14670"/>
  </p:sldMasterIdLst>
  <p:notesMasterIdLst>
    <p:notesMasterId xmlns:r="http://schemas.openxmlformats.org/officeDocument/2006/relationships" r:id="R7972bb23535346d1"/>
  </p:notesMasterIdLst>
  <p:sldIdLst>
    <p:sldId xmlns:r="http://schemas.openxmlformats.org/officeDocument/2006/relationships" id="256" r:id="R769884d91f80460c"/>
    <p:sldId xmlns:r="http://schemas.openxmlformats.org/officeDocument/2006/relationships" id="257" r:id="R4b70f6f293a84bf1"/>
    <p:sldId xmlns:r="http://schemas.openxmlformats.org/officeDocument/2006/relationships" id="258" r:id="R93ce3a9f55cb46a0"/>
    <p:sldId xmlns:r="http://schemas.openxmlformats.org/officeDocument/2006/relationships" id="259" r:id="R41fbab1e832d43f7"/>
    <p:sldId xmlns:r="http://schemas.openxmlformats.org/officeDocument/2006/relationships" id="260" r:id="R956af12cc2bd45e1"/>
    <p:sldId xmlns:r="http://schemas.openxmlformats.org/officeDocument/2006/relationships" id="261" r:id="R8c65c2186cd04d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52a2a6d41a48cb" /><Relationship Type="http://schemas.openxmlformats.org/officeDocument/2006/relationships/slideMaster" Target="/ppt/slideMasters/slideMaster1.xml" Id="Rc92f21a02cd14670" /><Relationship Type="http://schemas.openxmlformats.org/officeDocument/2006/relationships/notesMaster" Target="/ppt/notesMasters/notesMaster1.xml" Id="R7972bb23535346d1" /><Relationship Type="http://schemas.openxmlformats.org/officeDocument/2006/relationships/presProps" Target="/ppt/presProps.xml" Id="Rde235f9e7258432d" /><Relationship Type="http://schemas.openxmlformats.org/officeDocument/2006/relationships/tableStyles" Target="/ppt/tableStyles.xml" Id="R0d58ff5c24654839" /><Relationship Type="http://schemas.openxmlformats.org/officeDocument/2006/relationships/slide" Target="/ppt/slides/slide1.xml" Id="R769884d91f80460c" /><Relationship Type="http://schemas.openxmlformats.org/officeDocument/2006/relationships/slide" Target="/ppt/slides/slide2.xml" Id="R4b70f6f293a84bf1" /><Relationship Type="http://schemas.openxmlformats.org/officeDocument/2006/relationships/slide" Target="/ppt/slides/slide3.xml" Id="R93ce3a9f55cb46a0" /><Relationship Type="http://schemas.openxmlformats.org/officeDocument/2006/relationships/slide" Target="/ppt/slides/slide4.xml" Id="R41fbab1e832d43f7" /><Relationship Type="http://schemas.openxmlformats.org/officeDocument/2006/relationships/slide" Target="/ppt/slides/slide5.xml" Id="R956af12cc2bd45e1" /><Relationship Type="http://schemas.openxmlformats.org/officeDocument/2006/relationships/slide" Target="/ppt/slides/slide6.xml" Id="R8c65c2186cd04d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87599059f340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33fd1dcfd94d97" /><Relationship Type="http://schemas.openxmlformats.org/officeDocument/2006/relationships/notesMaster" Target="/ppt/notesMasters/notesMaster1.xml" Id="R38c450461bec43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0d8cf1676841cd" /><Relationship Type="http://schemas.openxmlformats.org/officeDocument/2006/relationships/notesMaster" Target="/ppt/notesMasters/notesMaster1.xml" Id="R33ce9816d51a4c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2dc944999b4391" /><Relationship Type="http://schemas.openxmlformats.org/officeDocument/2006/relationships/notesMaster" Target="/ppt/notesMasters/notesMaster1.xml" Id="R95bcde5f539043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9b53a37813474b" /><Relationship Type="http://schemas.openxmlformats.org/officeDocument/2006/relationships/notesMaster" Target="/ppt/notesMasters/notesMaster1.xml" Id="R4ee2aa5ea4a34f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1f47684bdf4690" /><Relationship Type="http://schemas.openxmlformats.org/officeDocument/2006/relationships/notesMaster" Target="/ppt/notesMasters/notesMaster1.xml" Id="Rfc858bb2800841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da40c0ffe04a34" /><Relationship Type="http://schemas.openxmlformats.org/officeDocument/2006/relationships/notesMaster" Target="/ppt/notesMasters/notesMaster1.xml" Id="R6c0335fda6854c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60 SECONDI</a:t>
            </a:r>
          </a:p>
          <a:p xmlns:a="http://schemas.openxmlformats.org/drawingml/2006/main">
            <a:r>
              <a:t>Ho dieci euro e mezz’ora per pranzare in Viale Pindaro. Food Arena parte da questa richiesta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PITCH 2 MINUTI</a:t>
            </a:r>
          </a:p>
          <a:p xmlns:a="http://schemas.openxmlformats.org/drawingml/2006/main">
            <a:r>
              <a:t>Food Arena parte da una persona che sa quanto vuole spendere e quando può ritirare. Pubblica una richiesta nella propria zona. Il gestore risponde con ciò che può preparare. Il pilota verificherà se riduciamo ricerca e lavoro sulle risposte.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</a:t>
            </a:r>
          </a:p>
          <a:p xmlns:a="http://schemas.openxmlformats.org/drawingml/2006/main">
            <a:r>
              <a:t>https://github.com/SPAZIOZEROLAB/food-arena/tree/92d80a523fa5810f011f0360d9024fa8f67eef2b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60 SECONDI</a:t>
            </a:r>
          </a:p>
          <a:p xmlns:a="http://schemas.openxmlformats.org/drawingml/2006/main">
            <a:r>
              <a:t>La demo mostra tre offerte fittizie entro budget. Scelgo un piatto, ricevo il codice e simulo il ritiro.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PITCH 2 MINUTI</a:t>
            </a:r>
          </a:p>
          <a:p xmlns:a="http://schemas.openxmlformats.org/drawingml/2006/main">
            <a:r>
              <a:t>Con dieci euro, una persona e trenta minuti, la demo propone focaccia, cous cous e bowl. Sono offerte fittizie. Con otto euro rimane la focaccia. Il cliente sceglie entro la scadenza e riceve il codice. Il ritiro dimostrativo non prenota cibo.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</a:t>
            </a:r>
          </a:p>
          <a:p xmlns:a="http://schemas.openxmlformats.org/drawingml/2006/main">
            <a:r>
              <a:t>https://github.com/SPAZIOZEROLAB/food-arena/tree/92d80a523fa5810f011f0360d9024fa8f67eef2b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60 SECONDI</a:t>
            </a:r>
          </a:p>
          <a:p xmlns:a="http://schemas.openxmlformats.org/drawingml/2006/main">
            <a:r>
              <a:t>Il modello confronta davvero richieste e piatti. Il gestore può autorizzare risposte automatiche mentre tiene aperto il pannello.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PITCH 2 MINUTI</a:t>
            </a:r>
          </a:p>
          <a:p xmlns:a="http://schemas.openxmlformats.org/drawingml/2006/main">
            <a:r>
              <a:t>MiniLM confronta richieste e piatti nel browser. Il primo download è circa 118 MB. Il cliente può ordinare le offerte per affinità. Il gestore autorizza risposte automatiche dal proprio menù. Le regole controllano budget e disponibilità. Il pannello deve restare aperto. Le allergie richiedono conferma diretta.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</a:t>
            </a:r>
          </a:p>
          <a:p xmlns:a="http://schemas.openxmlformats.org/drawingml/2006/main">
            <a:r>
              <a:t>https://github.com/SPAZIOZEROLAB/food-arena/tree/92d80a523fa5810f011f0360d9024fa8f67eef2b</a:t>
            </a:r>
          </a:p>
          <a:p xmlns:a="http://schemas.openxmlformats.org/drawingml/2006/main">
            <a:r>
              <a:t>https://github.com/SPAZIOZEROLAB/food-arena/blob/92d80a523fa5810f011f0360d9024fa8f67eef2b/docs/proofs/ai-verification.json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60 SECONDI</a:t>
            </a:r>
          </a:p>
          <a:p xmlns:a="http://schemas.openxmlformats.org/drawingml/2006/main">
            <a:r>
              <a:t>La prova su Fuji è una transazione confermata. Attesta ciò che registra la piattaforma, senza provare la consegna fisica.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PITCH 2 MINUTI</a:t>
            </a:r>
          </a:p>
          <a:p xmlns:a="http://schemas.openxmlformats.org/drawingml/2006/main">
            <a:r>
              <a:t>La transazione Fuji è confermata. Il wallet della piattaforma firma l’impronta del ritiro dichiarato. Contratto, evento e stato sono verificabili e impediscono la riscrittura. Non dimostra la consegna fisica e non paga il pranzo. Oggi offre un registro esterno. La sua essenzialità economica resta da validare.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</a:t>
            </a:r>
          </a:p>
          <a:p xmlns:a="http://schemas.openxmlformats.org/drawingml/2006/main">
            <a:r>
              <a:t>https://github.com/SPAZIOZEROLAB/food-arena/tree/92d80a523fa5810f011f0360d9024fa8f67eef2b</a:t>
            </a:r>
          </a:p>
          <a:p xmlns:a="http://schemas.openxmlformats.org/drawingml/2006/main">
            <a:r>
              <a:t>https://api.avax-test.network/ext/bc/C/rpc</a:t>
            </a:r>
          </a:p>
          <a:p xmlns:a="http://schemas.openxmlformats.org/drawingml/2006/main">
            <a:r>
              <a:t>https://build.avax.network/explorer/fuji/c-chain/tx/0x435f854a7600167174dfea9352c713743214c881826caaef7a025ccdfabc6b98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60 SECONDI</a:t>
            </a:r>
          </a:p>
          <a:p xmlns:a="http://schemas.openxmlformats.org/drawingml/2006/main">
            <a:r>
              <a:t>Il pilota proposto è piccolo: due locali, dieci studenti e cinque pranzi. Misureremo ritiri e disponibilità a pagare.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PITCH 2 MINUTI</a:t>
            </a:r>
          </a:p>
          <a:p xmlns:a="http://schemas.openxmlformats.org/drawingml/2006/main">
            <a:r>
              <a:t>Il test proposto coinvolge due locali, dieci studenti e cinque pranzi. Prima concordiamo disponibilità autentiche. Poi reclutiamo studenti con un QR. Misuriamo ritiri, lavoro aggiuntivo e volontà di ripetere. Test gratuito. Quindici euro al mese oppure trenta centesimi per ritiro sono ipotesi successive.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</a:t>
            </a:r>
          </a:p>
          <a:p xmlns:a="http://schemas.openxmlformats.org/drawingml/2006/main">
            <a:r>
              <a:t>https://github.com/SPAZIOZEROLAB/food-arena/tree/92d80a523fa5810f011f0360d9024fa8f67eef2b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60 SECONDI</a:t>
            </a:r>
          </a:p>
          <a:p xmlns:a="http://schemas.openxmlformats.org/drawingml/2006/main">
            <a:r>
              <a:t>L’app e il codice sono pubblici. Il prossimo passo è trovare due attività disposte a provare il servizio.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PITCH 2 MINUTI</a:t>
            </a:r>
          </a:p>
          <a:p xmlns:a="http://schemas.openxmlformats.org/drawingml/2006/main">
            <a:r>
              <a:t>App e codice MIT sono pubblici. Il sorgente resterà aperto almeno fino al diciannove dicembre. La licenza continua oltre quella data. Ora cerchiamo due gestori in Viale Pindaro per provare il servizio e verificarne la sostenibilità.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</a:t>
            </a:r>
          </a:p>
          <a:p xmlns:a="http://schemas.openxmlformats.org/drawingml/2006/main">
            <a:r>
              <a:t>https://github.com/SPAZIOZEROLAB/food-arena/tree/92d80a523fa5810f011f0360d9024fa8f67eef2b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5da5f750144e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aea147ca174d54" /><Relationship Type="http://schemas.openxmlformats.org/officeDocument/2006/relationships/slideLayout" Target="/ppt/slideLayouts/slideLayout1.xml" Id="R6334ca14cf534d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34ca14cf534d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49a9eb2234f37" /><Relationship Type="http://schemas.openxmlformats.org/officeDocument/2006/relationships/hyperlink" Target="https://food-arena.eldamarchigiano.chatgpt.site" TargetMode="External" Id="Rf6ea2b8d20fa45c7" /><Relationship Type="http://schemas.openxmlformats.org/officeDocument/2006/relationships/hyperlink" Target="https://github.com/SPAZIOZEROLAB/food-arena" TargetMode="External" Id="Rac6e60ea28ee421d" /><Relationship Type="http://schemas.openxmlformats.org/officeDocument/2006/relationships/hyperlink" Target="https://build.avax.network/explorer/fuji/c-chain/tx/0x435f854a7600167174dfea9352c713743214c881826caaef7a025ccdfabc6b98" TargetMode="External" Id="Rf20948cdeced47fc" /><Relationship Type="http://schemas.openxmlformats.org/officeDocument/2006/relationships/notesSlide" Target="/ppt/notesSlides/notesSlide1.xml" Id="R9d0c4669dbbb4f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6a525ae104ba3" /><Relationship Type="http://schemas.openxmlformats.org/officeDocument/2006/relationships/hyperlink" Target="https://food-arena.eldamarchigiano.chatgpt.site" TargetMode="External" Id="Re5bc38a6f67d4303" /><Relationship Type="http://schemas.openxmlformats.org/officeDocument/2006/relationships/hyperlink" Target="https://github.com/SPAZIOZEROLAB/food-arena" TargetMode="External" Id="Rbb2a5b66de654566" /><Relationship Type="http://schemas.openxmlformats.org/officeDocument/2006/relationships/hyperlink" Target="https://build.avax.network/explorer/fuji/c-chain/tx/0x435f854a7600167174dfea9352c713743214c881826caaef7a025ccdfabc6b98" TargetMode="External" Id="R4043fe130ef44e70" /><Relationship Type="http://schemas.openxmlformats.org/officeDocument/2006/relationships/notesSlide" Target="/ppt/notesSlides/notesSlide2.xml" Id="R086c8d79814644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faf70cb0b4e4b" /><Relationship Type="http://schemas.openxmlformats.org/officeDocument/2006/relationships/hyperlink" Target="https://food-arena.eldamarchigiano.chatgpt.site" TargetMode="External" Id="R6eeb69cbca84434f" /><Relationship Type="http://schemas.openxmlformats.org/officeDocument/2006/relationships/hyperlink" Target="https://github.com/SPAZIOZEROLAB/food-arena" TargetMode="External" Id="R22467864e08a4626" /><Relationship Type="http://schemas.openxmlformats.org/officeDocument/2006/relationships/hyperlink" Target="https://build.avax.network/explorer/fuji/c-chain/tx/0x435f854a7600167174dfea9352c713743214c881826caaef7a025ccdfabc6b98" TargetMode="External" Id="R79b99cf06c2b47b0" /><Relationship Type="http://schemas.openxmlformats.org/officeDocument/2006/relationships/notesSlide" Target="/ppt/notesSlides/notesSlide3.xml" Id="R3ea86abccc3145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77bcea0c041c5" /><Relationship Type="http://schemas.openxmlformats.org/officeDocument/2006/relationships/hyperlink" Target="https://food-arena.eldamarchigiano.chatgpt.site" TargetMode="External" Id="Rc091215f627143cd" /><Relationship Type="http://schemas.openxmlformats.org/officeDocument/2006/relationships/hyperlink" Target="https://github.com/SPAZIOZEROLAB/food-arena" TargetMode="External" Id="R5a0a562855cc4484" /><Relationship Type="http://schemas.openxmlformats.org/officeDocument/2006/relationships/hyperlink" Target="https://build.avax.network/explorer/fuji/c-chain/tx/0x435f854a7600167174dfea9352c713743214c881826caaef7a025ccdfabc6b98" TargetMode="External" Id="Ra3a082ca6e144f7e" /><Relationship Type="http://schemas.openxmlformats.org/officeDocument/2006/relationships/notesSlide" Target="/ppt/notesSlides/notesSlide4.xml" Id="R8da62ff13eb546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452559fbf4c65" /><Relationship Type="http://schemas.openxmlformats.org/officeDocument/2006/relationships/hyperlink" Target="https://food-arena.eldamarchigiano.chatgpt.site" TargetMode="External" Id="R1a70f1df2d204b35" /><Relationship Type="http://schemas.openxmlformats.org/officeDocument/2006/relationships/hyperlink" Target="https://github.com/SPAZIOZEROLAB/food-arena" TargetMode="External" Id="R883f12b183b54781" /><Relationship Type="http://schemas.openxmlformats.org/officeDocument/2006/relationships/hyperlink" Target="https://build.avax.network/explorer/fuji/c-chain/tx/0x435f854a7600167174dfea9352c713743214c881826caaef7a025ccdfabc6b98" TargetMode="External" Id="Ra99712c645b4468d" /><Relationship Type="http://schemas.openxmlformats.org/officeDocument/2006/relationships/notesSlide" Target="/ppt/notesSlides/notesSlide5.xml" Id="Rcc3e86c0f09047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9b6fa5df94dbe" /><Relationship Type="http://schemas.openxmlformats.org/officeDocument/2006/relationships/hyperlink" Target="https://food-arena.eldamarchigiano.chatgpt.site" TargetMode="External" Id="Rb4633049d2d94bf7" /><Relationship Type="http://schemas.openxmlformats.org/officeDocument/2006/relationships/hyperlink" Target="https://github.com/SPAZIOZEROLAB/food-arena" TargetMode="External" Id="Ra455ddf230574f8c" /><Relationship Type="http://schemas.openxmlformats.org/officeDocument/2006/relationships/hyperlink" Target="https://build.avax.network/explorer/fuji/c-chain/tx/0x435f854a7600167174dfea9352c713743214c881826caaef7a025ccdfabc6b98" TargetMode="External" Id="R5b18f6f622eb4e01" /><Relationship Type="http://schemas.openxmlformats.org/officeDocument/2006/relationships/notesSlide" Target="/ppt/notesSlides/notesSlide6.xml" Id="R7be59a72a6e647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">
            <a:extLst xmlns:a="http://schemas.openxmlformats.org/drawingml/2006/main">
              <a:ext uri="{FF2B5EF4-FFF2-40B4-BE49-F238E27FC236}">
                <a16:creationId xmlns:a16="http://schemas.microsoft.com/office/drawing/2014/main" id="{7E317E8B-DF8E-4FD8-B93E-CE370698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Food Arena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17DB632-8CE3-46D2-8687-89B57C9F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7667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Il pranzo parte</a:t>
            </a:r>
          </a:p>
          <a:p xmlns:a="http://schemas.openxmlformats.org/drawingml/2006/main">
            <a:pPr>
              <a:defRPr sz="4800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dal tuo budget</a:t>
            </a:r>
          </a:p>
        </p:txBody>
      </p:sp>
      <p:sp>
        <p:nvSpPr>
          <p:cNvPr id="3" name="budget">
            <a:extLst xmlns:a="http://schemas.openxmlformats.org/drawingml/2006/main">
              <a:ext uri="{FF2B5EF4-FFF2-40B4-BE49-F238E27FC236}">
                <a16:creationId xmlns:a16="http://schemas.microsoft.com/office/drawing/2014/main" id="{248AB37D-1215-4976-966B-47C5BB52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62225"/>
            <a:ext cx="2809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650" b="1">
                <a:solidFill>
                  <a:srgbClr val="DE4528"/>
                </a:solidFill>
                <a:latin typeface="Arial"/>
                <a:ea typeface="Arial"/>
                <a:cs typeface="Arial"/>
              </a:defRPr>
            </a:pPr>
            <a:r>
              <a:rPr sz="7650" b="1">
                <a:solidFill>
                  <a:srgbClr val="DE4528"/>
                </a:solidFill>
                <a:latin typeface="Arial"/>
                <a:ea typeface="Arial"/>
                <a:cs typeface="Arial"/>
              </a:rPr>
              <a:t>10 €</a:t>
            </a:r>
          </a:p>
        </p:txBody>
      </p:sp>
      <p:sp>
        <p:nvSpPr>
          <p:cNvPr id="4" name="scenario">
            <a:extLst xmlns:a="http://schemas.openxmlformats.org/drawingml/2006/main">
              <a:ext uri="{FF2B5EF4-FFF2-40B4-BE49-F238E27FC236}">
                <a16:creationId xmlns:a16="http://schemas.microsoft.com/office/drawing/2014/main" id="{2223FAC7-977B-43A3-AEF5-431D1551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8382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Viale Pindaro, Pescara</a:t>
            </a:r>
          </a:p>
          <a:p xmlns:a="http://schemas.openxmlformats.org/drawingml/2006/main">
            <a:pPr>
              <a:defRPr sz="2175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Ritiro entro 30 minuti</a:t>
            </a:r>
          </a:p>
        </p:txBody>
      </p:sp>
      <p:sp>
        <p:nvSpPr>
          <p:cNvPr id="5" name="event">
            <a:extLst xmlns:a="http://schemas.openxmlformats.org/drawingml/2006/main">
              <a:ext uri="{FF2B5EF4-FFF2-40B4-BE49-F238E27FC236}">
                <a16:creationId xmlns:a16="http://schemas.microsoft.com/office/drawing/2014/main" id="{A8129632-FFE3-4CFC-9E8D-5B486B28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52950"/>
            <a:ext cx="261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Team1 Hackathon</a:t>
            </a:r>
          </a:p>
          <a:p xmlns:a="http://schemas.openxmlformats.org/drawingml/2006/main">
            <a:pPr>
              <a:defRPr sz="1725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19 settembre 2026</a:t>
            </a:r>
          </a:p>
        </p:txBody>
      </p:sp>
      <p:sp>
        <p:nvSpPr>
          <p:cNvPr id="6" name="footer-app">
            <a:extLst xmlns:a="http://schemas.openxmlformats.org/drawingml/2006/main">
              <a:ext uri="{FF2B5EF4-FFF2-40B4-BE49-F238E27FC236}">
                <a16:creationId xmlns:a16="http://schemas.microsoft.com/office/drawing/2014/main" id="{28EAFBF4-3B97-49DF-AC4E-5CE014C5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f6ea2b8d20fa45c7"/>
              </a:rPr>
              <a:t>Apri Food Arena</a:t>
            </a:r>
          </a:p>
        </p:txBody>
      </p:sp>
      <p:sp>
        <p:nvSpPr>
          <p:cNvPr id="7" name="footer-repo">
            <a:extLst xmlns:a="http://schemas.openxmlformats.org/drawingml/2006/main">
              <a:ext uri="{FF2B5EF4-FFF2-40B4-BE49-F238E27FC236}">
                <a16:creationId xmlns:a16="http://schemas.microsoft.com/office/drawing/2014/main" id="{DEA31F99-2FED-4AAD-8B39-5F37B574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ac6e60ea28ee421d"/>
              </a:rPr>
              <a:t>Codice GitHub</a:t>
            </a:r>
          </a:p>
        </p:txBody>
      </p:sp>
      <p:sp>
        <p:nvSpPr>
          <p:cNvPr id="8" name="footer-proof">
            <a:extLst xmlns:a="http://schemas.openxmlformats.org/drawingml/2006/main">
              <a:ext uri="{FF2B5EF4-FFF2-40B4-BE49-F238E27FC236}">
                <a16:creationId xmlns:a16="http://schemas.microsoft.com/office/drawing/2014/main" id="{33D710EE-2D76-4218-A9C2-510F6D48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00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f20948cdeced47fc"/>
              </a:rPr>
              <a:t>Prova Fuji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54D7DD4-E886-41F2-A06B-10AB1E5E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1 / 6</a:t>
            </a:r>
          </a:p>
        </p:txBody>
      </p:sp>
    </p:spTree>
    <p:extLst>
      <p:ext uri="{BB962C8B-B14F-4D97-AF65-F5344CB8AC3E}">
        <p14:creationId xmlns:p14="http://schemas.microsoft.com/office/powerpoint/2010/main" val="655565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D1E8A077-607B-468C-AD16-007A199B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Tre proposte entro 10 €</a:t>
            </a:r>
          </a:p>
        </p:txBody>
      </p:sp>
      <p:sp>
        <p:nvSpPr>
          <p:cNvPr id="2" name="disclosure">
            <a:extLst xmlns:a="http://schemas.openxmlformats.org/drawingml/2006/main">
              <a:ext uri="{FF2B5EF4-FFF2-40B4-BE49-F238E27FC236}">
                <a16:creationId xmlns:a16="http://schemas.microsoft.com/office/drawing/2014/main" id="{174DD932-B3CE-4982-AF3D-9DB1B5D0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E45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E4528"/>
                </a:solidFill>
                <a:latin typeface="Arial"/>
                <a:ea typeface="Arial"/>
                <a:cs typeface="Arial"/>
              </a:rPr>
              <a:t>Locali fittizi. Prezzi e piatti dimostrativi.</a:t>
            </a:r>
          </a:p>
        </p:txBody>
      </p:sp>
      <p:sp>
        <p:nvSpPr>
          <p:cNvPr id="3" name="venue-0">
            <a:extLst xmlns:a="http://schemas.openxmlformats.org/drawingml/2006/main">
              <a:ext uri="{FF2B5EF4-FFF2-40B4-BE49-F238E27FC236}">
                <a16:creationId xmlns:a16="http://schemas.microsoft.com/office/drawing/2014/main" id="{05339681-5092-496B-8BA9-EECE478E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733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Forno</a:t>
            </a:r>
          </a:p>
        </p:txBody>
      </p:sp>
      <p:sp>
        <p:nvSpPr>
          <p:cNvPr id="4" name="menu-0">
            <a:extLst xmlns:a="http://schemas.openxmlformats.org/drawingml/2006/main">
              <a:ext uri="{FF2B5EF4-FFF2-40B4-BE49-F238E27FC236}">
                <a16:creationId xmlns:a16="http://schemas.microsoft.com/office/drawing/2014/main" id="{4E7C0BBC-B03A-42B6-A47E-ED358169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14600"/>
            <a:ext cx="64103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Focaccia caprese e acqua</a:t>
            </a:r>
          </a:p>
        </p:txBody>
      </p:sp>
      <p:sp>
        <p:nvSpPr>
          <p:cNvPr id="5" name="price-0">
            <a:extLst xmlns:a="http://schemas.openxmlformats.org/drawingml/2006/main">
              <a:ext uri="{FF2B5EF4-FFF2-40B4-BE49-F238E27FC236}">
                <a16:creationId xmlns:a16="http://schemas.microsoft.com/office/drawing/2014/main" id="{FE176BA8-B6BD-4C4E-B1BD-D7EC0F1F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DE45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DE4528"/>
                </a:solidFill>
                <a:latin typeface="Arial"/>
                <a:ea typeface="Arial"/>
                <a:cs typeface="Arial"/>
              </a:rPr>
              <a:t>7,90 €</a:t>
            </a:r>
          </a:p>
        </p:txBody>
      </p:sp>
      <p:sp>
        <p:nvSpPr>
          <p:cNvPr id="6" name="venue-1">
            <a:extLst xmlns:a="http://schemas.openxmlformats.org/drawingml/2006/main">
              <a:ext uri="{FF2B5EF4-FFF2-40B4-BE49-F238E27FC236}">
                <a16:creationId xmlns:a16="http://schemas.microsoft.com/office/drawing/2014/main" id="{10F98837-74E9-4327-B36B-5A73832E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733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Verde</a:t>
            </a:r>
          </a:p>
        </p:txBody>
      </p:sp>
      <p:sp>
        <p:nvSpPr>
          <p:cNvPr id="7" name="menu-1">
            <a:extLst xmlns:a="http://schemas.openxmlformats.org/drawingml/2006/main">
              <a:ext uri="{FF2B5EF4-FFF2-40B4-BE49-F238E27FC236}">
                <a16:creationId xmlns:a16="http://schemas.microsoft.com/office/drawing/2014/main" id="{01D3F986-D87C-4989-83FB-A28ADFEE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09950"/>
            <a:ext cx="64103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Cous cous, verdure e acqua</a:t>
            </a:r>
          </a:p>
        </p:txBody>
      </p:sp>
      <p:sp>
        <p:nvSpPr>
          <p:cNvPr id="8" name="price-1">
            <a:extLst xmlns:a="http://schemas.openxmlformats.org/drawingml/2006/main">
              <a:ext uri="{FF2B5EF4-FFF2-40B4-BE49-F238E27FC236}">
                <a16:creationId xmlns:a16="http://schemas.microsoft.com/office/drawing/2014/main" id="{C454C1F3-3359-4C85-809F-F057CD06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7185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DE45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DE4528"/>
                </a:solidFill>
                <a:latin typeface="Arial"/>
                <a:ea typeface="Arial"/>
                <a:cs typeface="Arial"/>
              </a:rPr>
              <a:t>8,50 €</a:t>
            </a:r>
          </a:p>
        </p:txBody>
      </p:sp>
      <p:sp>
        <p:nvSpPr>
          <p:cNvPr id="9" name="venue-2">
            <a:extLst xmlns:a="http://schemas.openxmlformats.org/drawingml/2006/main">
              <a:ext uri="{FF2B5EF4-FFF2-40B4-BE49-F238E27FC236}">
                <a16:creationId xmlns:a16="http://schemas.microsoft.com/office/drawing/2014/main" id="{4051DDAF-6C7B-4C6A-AC8E-0DB07CC9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733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Bowl</a:t>
            </a:r>
          </a:p>
        </p:txBody>
      </p:sp>
      <p:sp>
        <p:nvSpPr>
          <p:cNvPr id="10" name="menu-2">
            <a:extLst xmlns:a="http://schemas.openxmlformats.org/drawingml/2006/main">
              <a:ext uri="{FF2B5EF4-FFF2-40B4-BE49-F238E27FC236}">
                <a16:creationId xmlns:a16="http://schemas.microsoft.com/office/drawing/2014/main" id="{2C5FBE2C-FE28-4A7C-ABCD-858FA5E6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05300"/>
            <a:ext cx="64103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Bowl di pollo e acqua</a:t>
            </a:r>
          </a:p>
        </p:txBody>
      </p:sp>
      <p:sp>
        <p:nvSpPr>
          <p:cNvPr id="11" name="price-2">
            <a:extLst xmlns:a="http://schemas.openxmlformats.org/drawingml/2006/main">
              <a:ext uri="{FF2B5EF4-FFF2-40B4-BE49-F238E27FC236}">
                <a16:creationId xmlns:a16="http://schemas.microsoft.com/office/drawing/2014/main" id="{BFB3E52B-C46C-4F02-B81E-603C8DE4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6720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DE45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DE4528"/>
                </a:solidFill>
                <a:latin typeface="Arial"/>
                <a:ea typeface="Arial"/>
                <a:cs typeface="Arial"/>
              </a:rPr>
              <a:t>9,90 €</a:t>
            </a:r>
          </a:p>
        </p:txBody>
      </p:sp>
      <p:sp>
        <p:nvSpPr>
          <p:cNvPr id="12" name="choice">
            <a:extLst xmlns:a="http://schemas.openxmlformats.org/drawingml/2006/main">
              <a:ext uri="{FF2B5EF4-FFF2-40B4-BE49-F238E27FC236}">
                <a16:creationId xmlns:a16="http://schemas.microsoft.com/office/drawing/2014/main" id="{DE5DBB98-3560-49D3-AA4D-1661D700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620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Il cliente sceglie entro la scadenza e riceve il codice di ritiro.</a:t>
            </a:r>
          </a:p>
        </p:txBody>
      </p:sp>
      <p:sp>
        <p:nvSpPr>
          <p:cNvPr id="13" name="footer-app">
            <a:extLst xmlns:a="http://schemas.openxmlformats.org/drawingml/2006/main">
              <a:ext uri="{FF2B5EF4-FFF2-40B4-BE49-F238E27FC236}">
                <a16:creationId xmlns:a16="http://schemas.microsoft.com/office/drawing/2014/main" id="{51B0933E-3051-4ED1-815B-293B2CF6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e5bc38a6f67d4303"/>
              </a:rPr>
              <a:t>Apri Food Arena</a:t>
            </a:r>
          </a:p>
        </p:txBody>
      </p:sp>
      <p:sp>
        <p:nvSpPr>
          <p:cNvPr id="14" name="footer-repo">
            <a:extLst xmlns:a="http://schemas.openxmlformats.org/drawingml/2006/main">
              <a:ext uri="{FF2B5EF4-FFF2-40B4-BE49-F238E27FC236}">
                <a16:creationId xmlns:a16="http://schemas.microsoft.com/office/drawing/2014/main" id="{11EBD34E-F742-4EED-B0B7-61DA43FE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bb2a5b66de654566"/>
              </a:rPr>
              <a:t>Codice GitHub</a:t>
            </a:r>
          </a:p>
        </p:txBody>
      </p:sp>
      <p:sp>
        <p:nvSpPr>
          <p:cNvPr id="15" name="footer-proof">
            <a:extLst xmlns:a="http://schemas.openxmlformats.org/drawingml/2006/main">
              <a:ext uri="{FF2B5EF4-FFF2-40B4-BE49-F238E27FC236}">
                <a16:creationId xmlns:a16="http://schemas.microsoft.com/office/drawing/2014/main" id="{D3D6EBE9-9C47-4C61-A116-F95E2D03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00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4043fe130ef44e70"/>
              </a:rPr>
              <a:t>Prova Fuji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4675A31-6EFC-43B0-9698-3051E84B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2 / 6</a:t>
            </a:r>
          </a:p>
        </p:txBody>
      </p:sp>
    </p:spTree>
    <p:extLst>
      <p:ext uri="{BB962C8B-B14F-4D97-AF65-F5344CB8AC3E}">
        <p14:creationId xmlns:p14="http://schemas.microsoft.com/office/powerpoint/2010/main" val="8651886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0107EC5C-1AFF-486B-A6B1-F23D5815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L’AI lavora sulle richieste</a:t>
            </a:r>
          </a:p>
        </p:txBody>
      </p:sp>
      <p:sp>
        <p:nvSpPr>
          <p:cNvPr id="2" name="merchant-heading">
            <a:extLst xmlns:a="http://schemas.openxmlformats.org/drawingml/2006/main">
              <a:ext uri="{FF2B5EF4-FFF2-40B4-BE49-F238E27FC236}">
                <a16:creationId xmlns:a16="http://schemas.microsoft.com/office/drawing/2014/main" id="{2693B42C-5F91-42C1-9159-D75C09F6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E45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E4528"/>
                </a:solidFill>
                <a:latin typeface="Arial"/>
                <a:ea typeface="Arial"/>
                <a:cs typeface="Arial"/>
              </a:rPr>
              <a:t>Per il gestore</a:t>
            </a:r>
          </a:p>
        </p:txBody>
      </p:sp>
      <p:sp>
        <p:nvSpPr>
          <p:cNvPr id="3" name="merchant-body">
            <a:extLst xmlns:a="http://schemas.openxmlformats.org/drawingml/2006/main">
              <a:ext uri="{FF2B5EF4-FFF2-40B4-BE49-F238E27FC236}">
                <a16:creationId xmlns:a16="http://schemas.microsoft.com/office/drawing/2014/main" id="{66FC7C78-C156-458E-8793-9D1DF522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58293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Confronta il bisogno con il menù.</a:t>
            </a:r>
          </a:p>
          <a:p xmlns:a="http://schemas.openxmlformats.org/drawingml/2006/main">
            <a:pPr>
              <a:defRPr sz="2550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Invia una proposta autorizzata</a:t>
            </a:r>
          </a:p>
          <a:p xmlns:a="http://schemas.openxmlformats.org/drawingml/2006/main">
            <a:pPr>
              <a:defRPr sz="2550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entro budget, quantità e tempi.</a:t>
            </a:r>
          </a:p>
        </p:txBody>
      </p:sp>
      <p:sp>
        <p:nvSpPr>
          <p:cNvPr id="4" name="customer-heading">
            <a:extLst xmlns:a="http://schemas.openxmlformats.org/drawingml/2006/main">
              <a:ext uri="{FF2B5EF4-FFF2-40B4-BE49-F238E27FC236}">
                <a16:creationId xmlns:a16="http://schemas.microsoft.com/office/drawing/2014/main" id="{440CB097-B452-4897-98AC-88A2C9FD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4410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E45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E4528"/>
                </a:solidFill>
                <a:latin typeface="Arial"/>
                <a:ea typeface="Arial"/>
                <a:cs typeface="Arial"/>
              </a:rPr>
              <a:t>Per il cliente</a:t>
            </a:r>
          </a:p>
        </p:txBody>
      </p:sp>
      <p:sp>
        <p:nvSpPr>
          <p:cNvPr id="5" name="customer-body">
            <a:extLst xmlns:a="http://schemas.openxmlformats.org/drawingml/2006/main">
              <a:ext uri="{FF2B5EF4-FFF2-40B4-BE49-F238E27FC236}">
                <a16:creationId xmlns:a16="http://schemas.microsoft.com/office/drawing/2014/main" id="{541A30AF-AB03-4202-9926-6A02595D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4314825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Ordina le offerte</a:t>
            </a:r>
          </a:p>
          <a:p xmlns:a="http://schemas.openxmlformats.org/drawingml/2006/main">
            <a:pPr>
              <a:defRPr sz="2550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per affinità con</a:t>
            </a:r>
          </a:p>
          <a:p xmlns:a="http://schemas.openxmlformats.org/drawingml/2006/main">
            <a:pPr>
              <a:defRPr sz="2550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la richiesta.</a:t>
            </a:r>
          </a:p>
        </p:txBody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A7D6EAF3-AB46-4506-9CB3-24DC1D74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06203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Modello nel browser, senza API key.</a:t>
            </a:r>
          </a:p>
          <a:p xmlns:a="http://schemas.openxmlformats.org/drawingml/2006/main">
            <a:pPr>
              <a:defRPr sz="210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Automazione attiva solo con il pannello aperto.</a:t>
            </a:r>
          </a:p>
        </p:txBody>
      </p:sp>
      <p:sp>
        <p:nvSpPr>
          <p:cNvPr id="7" name="footer-app">
            <a:extLst xmlns:a="http://schemas.openxmlformats.org/drawingml/2006/main">
              <a:ext uri="{FF2B5EF4-FFF2-40B4-BE49-F238E27FC236}">
                <a16:creationId xmlns:a16="http://schemas.microsoft.com/office/drawing/2014/main" id="{F5FD61E1-D964-4214-B507-41538593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6eeb69cbca84434f"/>
              </a:rPr>
              <a:t>Apri Food Arena</a:t>
            </a:r>
          </a:p>
        </p:txBody>
      </p:sp>
      <p:sp>
        <p:nvSpPr>
          <p:cNvPr id="8" name="footer-repo">
            <a:extLst xmlns:a="http://schemas.openxmlformats.org/drawingml/2006/main">
              <a:ext uri="{FF2B5EF4-FFF2-40B4-BE49-F238E27FC236}">
                <a16:creationId xmlns:a16="http://schemas.microsoft.com/office/drawing/2014/main" id="{ED2AA39E-CE04-4AC2-8943-C82A0C62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22467864e08a4626"/>
              </a:rPr>
              <a:t>Codice GitHub</a:t>
            </a:r>
          </a:p>
        </p:txBody>
      </p:sp>
      <p:sp>
        <p:nvSpPr>
          <p:cNvPr id="9" name="footer-proof">
            <a:extLst xmlns:a="http://schemas.openxmlformats.org/drawingml/2006/main">
              <a:ext uri="{FF2B5EF4-FFF2-40B4-BE49-F238E27FC236}">
                <a16:creationId xmlns:a16="http://schemas.microsoft.com/office/drawing/2014/main" id="{5E7A2493-46AD-408F-9BFB-69FC7837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00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79b99cf06c2b47b0"/>
              </a:rPr>
              <a:t>Prova Fuji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632D184-1C05-4622-ACCC-FDDA010A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3 / 6</a:t>
            </a:r>
          </a:p>
        </p:txBody>
      </p:sp>
    </p:spTree>
    <p:extLst>
      <p:ext uri="{BB962C8B-B14F-4D97-AF65-F5344CB8AC3E}">
        <p14:creationId xmlns:p14="http://schemas.microsoft.com/office/powerpoint/2010/main" val="1156730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2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D5A2E957-D85D-48BC-94E4-0B1B75BC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6F4ED"/>
                </a:solidFill>
                <a:latin typeface="Arial"/>
                <a:ea typeface="Arial"/>
                <a:cs typeface="Arial"/>
              </a:rPr>
              <a:t>Una ricevuta verificabile su Fuji</a:t>
            </a:r>
          </a:p>
        </p:txBody>
      </p:sp>
      <p:sp>
        <p:nvSpPr>
          <p:cNvPr id="2" name="chain">
            <a:extLst xmlns:a="http://schemas.openxmlformats.org/drawingml/2006/main">
              <a:ext uri="{FF2B5EF4-FFF2-40B4-BE49-F238E27FC236}">
                <a16:creationId xmlns:a16="http://schemas.microsoft.com/office/drawing/2014/main" id="{7A1F7AE1-B255-4E18-9E0D-B4707CCD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3340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425" b="1">
                <a:solidFill>
                  <a:srgbClr val="EAFF78"/>
                </a:solidFill>
                <a:latin typeface="Arial"/>
                <a:ea typeface="Arial"/>
                <a:cs typeface="Arial"/>
              </a:defRPr>
            </a:pPr>
            <a:r>
              <a:rPr sz="7425" b="1">
                <a:solidFill>
                  <a:srgbClr val="EAFF78"/>
                </a:solidFill>
                <a:latin typeface="Arial"/>
                <a:ea typeface="Arial"/>
                <a:cs typeface="Arial"/>
              </a:rPr>
              <a:t>43113</a:t>
            </a:r>
          </a:p>
        </p:txBody>
      </p:sp>
      <p:sp>
        <p:nvSpPr>
          <p:cNvPr id="3" name="chain-label">
            <a:extLst xmlns:a="http://schemas.openxmlformats.org/drawingml/2006/main">
              <a:ext uri="{FF2B5EF4-FFF2-40B4-BE49-F238E27FC236}">
                <a16:creationId xmlns:a16="http://schemas.microsoft.com/office/drawing/2014/main" id="{A250AF9E-C182-411F-8362-4E3E63EE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61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6F4ED"/>
                </a:solidFill>
                <a:latin typeface="Arial"/>
                <a:ea typeface="Arial"/>
                <a:cs typeface="Arial"/>
              </a:rPr>
              <a:t>Avalanche Fuji Testnet</a:t>
            </a:r>
          </a:p>
        </p:txBody>
      </p:sp>
      <p:sp>
        <p:nvSpPr>
          <p:cNvPr id="4" name="proof-result">
            <a:extLst xmlns:a="http://schemas.openxmlformats.org/drawingml/2006/main">
              <a:ext uri="{FF2B5EF4-FFF2-40B4-BE49-F238E27FC236}">
                <a16:creationId xmlns:a16="http://schemas.microsoft.com/office/drawing/2014/main" id="{5CA14088-278E-41AA-938E-596695AA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47900"/>
            <a:ext cx="45720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6F4ED"/>
                </a:solidFill>
                <a:latin typeface="Arial"/>
                <a:ea typeface="Arial"/>
                <a:cs typeface="Arial"/>
              </a:rPr>
              <a:t>Transazione confermata</a:t>
            </a:r>
          </a:p>
          <a:p xmlns:a="http://schemas.openxmlformats.org/drawingml/2006/main">
            <a:pPr>
              <a:defRPr sz="2475" b="1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6F4ED"/>
                </a:solidFill>
                <a:latin typeface="Arial"/>
                <a:ea typeface="Arial"/>
                <a:cs typeface="Arial"/>
              </a:rPr>
              <a:t>Evento e stato coerenti</a:t>
            </a:r>
          </a:p>
          <a:p xmlns:a="http://schemas.openxmlformats.org/drawingml/2006/main">
            <a:pPr>
              <a:defRPr sz="2475" b="1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6F4ED"/>
                </a:solidFill>
                <a:latin typeface="Arial"/>
                <a:ea typeface="Arial"/>
                <a:cs typeface="Arial"/>
              </a:rPr>
              <a:t>Blocco 58482355</a:t>
            </a:r>
          </a:p>
        </p:txBody>
      </p:sp>
      <p:sp>
        <p:nvSpPr>
          <p:cNvPr id="5" name="meaning">
            <a:extLst xmlns:a="http://schemas.openxmlformats.org/drawingml/2006/main">
              <a:ext uri="{FF2B5EF4-FFF2-40B4-BE49-F238E27FC236}">
                <a16:creationId xmlns:a16="http://schemas.microsoft.com/office/drawing/2014/main" id="{4398C0B7-131C-4312-918B-B4A1F5FE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8108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4ED"/>
                </a:solidFill>
                <a:latin typeface="Arial"/>
                <a:ea typeface="Arial"/>
                <a:cs typeface="Arial"/>
              </a:rPr>
              <a:t>Il wallet della piattaforma registra l’impronta del ritiro attestato.</a:t>
            </a:r>
          </a:p>
          <a:p xmlns:a="http://schemas.openxmlformats.org/drawingml/2006/main">
            <a:pPr>
              <a:defRPr sz="2175" b="0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4ED"/>
                </a:solidFill>
                <a:latin typeface="Arial"/>
                <a:ea typeface="Arial"/>
                <a:cs typeface="Arial"/>
              </a:rPr>
              <a:t>Solo token di prova. Nessun pagamento del pranzo.</a:t>
            </a:r>
          </a:p>
        </p:txBody>
      </p:sp>
      <p:sp>
        <p:nvSpPr>
          <p:cNvPr id="6" name="limit">
            <a:extLst xmlns:a="http://schemas.openxmlformats.org/drawingml/2006/main">
              <a:ext uri="{FF2B5EF4-FFF2-40B4-BE49-F238E27FC236}">
                <a16:creationId xmlns:a16="http://schemas.microsoft.com/office/drawing/2014/main" id="{8B867E37-E47D-4975-A7C4-46FE7FD8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3877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AFF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AFF78"/>
                </a:solidFill>
                <a:latin typeface="Arial"/>
                <a:ea typeface="Arial"/>
                <a:cs typeface="Arial"/>
              </a:rPr>
              <a:t>Il mercato funziona anche senza il registro.</a:t>
            </a:r>
          </a:p>
          <a:p xmlns:a="http://schemas.openxmlformats.org/drawingml/2006/main">
            <a:pPr>
              <a:defRPr sz="1800" b="0">
                <a:solidFill>
                  <a:srgbClr val="EAFF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AFF78"/>
                </a:solidFill>
                <a:latin typeface="Arial"/>
                <a:ea typeface="Arial"/>
                <a:cs typeface="Arial"/>
              </a:rPr>
              <a:t>Il valore dell’audit fra soggetti diversi resta da validare.</a:t>
            </a:r>
          </a:p>
        </p:txBody>
      </p:sp>
      <p:sp>
        <p:nvSpPr>
          <p:cNvPr id="7" name="footer-app">
            <a:extLst xmlns:a="http://schemas.openxmlformats.org/drawingml/2006/main">
              <a:ext uri="{FF2B5EF4-FFF2-40B4-BE49-F238E27FC236}">
                <a16:creationId xmlns:a16="http://schemas.microsoft.com/office/drawing/2014/main" id="{E1DE6655-AE2A-43C0-B962-EA91055C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4ED"/>
                </a:solidFill>
                <a:latin typeface="Arial"/>
                <a:ea typeface="Arial"/>
                <a:cs typeface="Arial"/>
                <a:hlinkClick xmlns:r="http://schemas.openxmlformats.org/officeDocument/2006/relationships" r:id="Rc091215f627143cd"/>
              </a:rPr>
              <a:t>Apri Food Arena</a:t>
            </a:r>
          </a:p>
        </p:txBody>
      </p:sp>
      <p:sp>
        <p:nvSpPr>
          <p:cNvPr id="8" name="footer-repo">
            <a:extLst xmlns:a="http://schemas.openxmlformats.org/drawingml/2006/main">
              <a:ext uri="{FF2B5EF4-FFF2-40B4-BE49-F238E27FC236}">
                <a16:creationId xmlns:a16="http://schemas.microsoft.com/office/drawing/2014/main" id="{CE20D2E7-0C2D-4486-AE6B-C5409569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4ED"/>
                </a:solidFill>
                <a:latin typeface="Arial"/>
                <a:ea typeface="Arial"/>
                <a:cs typeface="Arial"/>
                <a:hlinkClick xmlns:r="http://schemas.openxmlformats.org/officeDocument/2006/relationships" r:id="R5a0a562855cc4484"/>
              </a:rPr>
              <a:t>Codice GitHub</a:t>
            </a:r>
          </a:p>
        </p:txBody>
      </p:sp>
      <p:sp>
        <p:nvSpPr>
          <p:cNvPr id="9" name="footer-proof">
            <a:extLst xmlns:a="http://schemas.openxmlformats.org/drawingml/2006/main">
              <a:ext uri="{FF2B5EF4-FFF2-40B4-BE49-F238E27FC236}">
                <a16:creationId xmlns:a16="http://schemas.microsoft.com/office/drawing/2014/main" id="{4F8CCFDF-7E76-41BC-8028-3762A9B9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00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4ED"/>
                </a:solidFill>
                <a:latin typeface="Arial"/>
                <a:ea typeface="Arial"/>
                <a:cs typeface="Arial"/>
                <a:hlinkClick xmlns:r="http://schemas.openxmlformats.org/officeDocument/2006/relationships" r:id="Ra3a082ca6e144f7e"/>
              </a:rPr>
              <a:t>Prova Fuji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4B843D5-4BD0-4658-A587-D3522AB5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4ED"/>
                </a:solidFill>
                <a:latin typeface="Arial"/>
                <a:ea typeface="Arial"/>
                <a:cs typeface="Arial"/>
              </a:rPr>
              <a:t>4 / 6</a:t>
            </a:r>
          </a:p>
        </p:txBody>
      </p:sp>
    </p:spTree>
    <p:extLst>
      <p:ext uri="{BB962C8B-B14F-4D97-AF65-F5344CB8AC3E}">
        <p14:creationId xmlns:p14="http://schemas.microsoft.com/office/powerpoint/2010/main" val="547207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FF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5DD3A907-80E4-488E-AA35-A07BA0C5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Il primo test in Viale Pindaro</a:t>
            </a:r>
          </a:p>
        </p:txBody>
      </p:sp>
      <p:sp>
        <p:nvSpPr>
          <p:cNvPr id="2" name="pilot">
            <a:extLst xmlns:a="http://schemas.openxmlformats.org/drawingml/2006/main">
              <a:ext uri="{FF2B5EF4-FFF2-40B4-BE49-F238E27FC236}">
                <a16:creationId xmlns:a16="http://schemas.microsoft.com/office/drawing/2014/main" id="{CED8F116-4688-4C36-A650-DC543AAE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106680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2 locali, 10 studenti</a:t>
            </a:r>
          </a:p>
          <a:p xmlns:a="http://schemas.openxmlformats.org/drawingml/2006/main">
            <a:pPr>
              <a:defRPr sz="4950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5 giorni di pranzo</a:t>
            </a:r>
          </a:p>
        </p:txBody>
      </p:sp>
      <p:sp>
        <p:nvSpPr>
          <p:cNvPr id="3" name="metrics">
            <a:extLst xmlns:a="http://schemas.openxmlformats.org/drawingml/2006/main">
              <a:ext uri="{FF2B5EF4-FFF2-40B4-BE49-F238E27FC236}">
                <a16:creationId xmlns:a16="http://schemas.microsoft.com/office/drawing/2014/main" id="{E02F1590-83BB-41BA-A93A-3B7BA4EB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Misuriamo ritiri, lavoro del gestore e voglia di ripetere.</a:t>
            </a:r>
          </a:p>
        </p:txBody>
      </p:sp>
      <p:sp>
        <p:nvSpPr>
          <p:cNvPr id="4" name="pricing">
            <a:extLst xmlns:a="http://schemas.openxmlformats.org/drawingml/2006/main">
              <a:ext uri="{FF2B5EF4-FFF2-40B4-BE49-F238E27FC236}">
                <a16:creationId xmlns:a16="http://schemas.microsoft.com/office/drawing/2014/main" id="{55736649-ECF3-49C6-957D-97163711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Dopo il test: 15 €/mese oppure 0,30 € per ritiro.</a:t>
            </a:r>
          </a:p>
        </p:txBody>
      </p:sp>
      <p:sp>
        <p:nvSpPr>
          <p:cNvPr id="5" name="honesty">
            <a:extLst xmlns:a="http://schemas.openxmlformats.org/drawingml/2006/main">
              <a:ext uri="{FF2B5EF4-FFF2-40B4-BE49-F238E27FC236}">
                <a16:creationId xmlns:a16="http://schemas.microsoft.com/office/drawing/2014/main" id="{A5FDE04E-37FC-4C2E-9DDE-5D4E4DCA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744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Ipotesi da validare. Oggi nessuna commissione e nessun locale aderente dichiarato.</a:t>
            </a:r>
          </a:p>
        </p:txBody>
      </p:sp>
      <p:sp>
        <p:nvSpPr>
          <p:cNvPr id="6" name="footer-app">
            <a:extLst xmlns:a="http://schemas.openxmlformats.org/drawingml/2006/main">
              <a:ext uri="{FF2B5EF4-FFF2-40B4-BE49-F238E27FC236}">
                <a16:creationId xmlns:a16="http://schemas.microsoft.com/office/drawing/2014/main" id="{0BEF94C9-5AA8-4C63-B360-09EE5553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1a70f1df2d204b35"/>
              </a:rPr>
              <a:t>Apri Food Arena</a:t>
            </a:r>
          </a:p>
        </p:txBody>
      </p:sp>
      <p:sp>
        <p:nvSpPr>
          <p:cNvPr id="7" name="footer-repo">
            <a:extLst xmlns:a="http://schemas.openxmlformats.org/drawingml/2006/main">
              <a:ext uri="{FF2B5EF4-FFF2-40B4-BE49-F238E27FC236}">
                <a16:creationId xmlns:a16="http://schemas.microsoft.com/office/drawing/2014/main" id="{9A579DE2-E27F-42B9-884D-A9413514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883f12b183b54781"/>
              </a:rPr>
              <a:t>Codice GitHub</a:t>
            </a:r>
          </a:p>
        </p:txBody>
      </p:sp>
      <p:sp>
        <p:nvSpPr>
          <p:cNvPr id="8" name="footer-proof">
            <a:extLst xmlns:a="http://schemas.openxmlformats.org/drawingml/2006/main">
              <a:ext uri="{FF2B5EF4-FFF2-40B4-BE49-F238E27FC236}">
                <a16:creationId xmlns:a16="http://schemas.microsoft.com/office/drawing/2014/main" id="{37A702C0-91BF-4C14-8266-2B4DF3B2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00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a99712c645b4468d"/>
              </a:rPr>
              <a:t>Prova Fuji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0CC2195-6E81-4348-ACA4-85B2028C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5 / 6</a:t>
            </a:r>
          </a:p>
        </p:txBody>
      </p:sp>
    </p:spTree>
    <p:extLst>
      <p:ext uri="{BB962C8B-B14F-4D97-AF65-F5344CB8AC3E}">
        <p14:creationId xmlns:p14="http://schemas.microsoft.com/office/powerpoint/2010/main" val="6704224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00915DFC-21E0-4B0E-A4A1-6BFC03EF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La demo c’è. Il pilota viene adesso.</a:t>
            </a:r>
          </a:p>
        </p:txBody>
      </p:sp>
      <p:sp>
        <p:nvSpPr>
          <p:cNvPr id="2" name="ask">
            <a:extLst xmlns:a="http://schemas.openxmlformats.org/drawingml/2006/main">
              <a:ext uri="{FF2B5EF4-FFF2-40B4-BE49-F238E27FC236}">
                <a16:creationId xmlns:a16="http://schemas.microsoft.com/office/drawing/2014/main" id="{3C728565-D286-4814-A214-51EC26A5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08204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DE452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E4528"/>
                </a:solidFill>
                <a:latin typeface="Arial"/>
                <a:ea typeface="Arial"/>
                <a:cs typeface="Arial"/>
              </a:rPr>
              <a:t>Cerchiamo due locali</a:t>
            </a:r>
          </a:p>
          <a:p xmlns:a="http://schemas.openxmlformats.org/drawingml/2006/main">
            <a:pPr>
              <a:defRPr sz="4650" b="1">
                <a:solidFill>
                  <a:srgbClr val="DE452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E4528"/>
                </a:solidFill>
                <a:latin typeface="Arial"/>
                <a:ea typeface="Arial"/>
                <a:cs typeface="Arial"/>
              </a:rPr>
              <a:t>per cinque pranzi di prova</a:t>
            </a:r>
          </a:p>
        </p:txBody>
      </p:sp>
      <p:sp>
        <p:nvSpPr>
          <p:cNvPr id="3" name="assets">
            <a:extLst xmlns:a="http://schemas.openxmlformats.org/drawingml/2006/main">
              <a:ext uri="{FF2B5EF4-FFF2-40B4-BE49-F238E27FC236}">
                <a16:creationId xmlns:a16="http://schemas.microsoft.com/office/drawing/2014/main" id="{3987BADB-FC2B-4120-B6C1-5B53D744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App utilizzabile, codice pubblico MIT e prova Fuji confermata.</a:t>
            </a:r>
          </a:p>
        </p:txBody>
      </p:sp>
      <p:sp>
        <p:nvSpPr>
          <p:cNvPr id="4" name="open-source">
            <a:extLst xmlns:a="http://schemas.openxmlformats.org/drawingml/2006/main">
              <a:ext uri="{FF2B5EF4-FFF2-40B4-BE49-F238E27FC236}">
                <a16:creationId xmlns:a16="http://schemas.microsoft.com/office/drawing/2014/main" id="{A8E178C3-05E0-449C-97DF-8E9FD32C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67325"/>
            <a:ext cx="10620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Sorgente pubblico almeno fino al 19 dicembre 2026.</a:t>
            </a:r>
          </a:p>
          <a:p xmlns:a="http://schemas.openxmlformats.org/drawingml/2006/main">
            <a:pPr>
              <a:defRPr sz="19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La licenza MIT continua oltre i tre mesi.</a:t>
            </a:r>
          </a:p>
        </p:txBody>
      </p:sp>
      <p:sp>
        <p:nvSpPr>
          <p:cNvPr id="5" name="footer-app">
            <a:extLst xmlns:a="http://schemas.openxmlformats.org/drawingml/2006/main">
              <a:ext uri="{FF2B5EF4-FFF2-40B4-BE49-F238E27FC236}">
                <a16:creationId xmlns:a16="http://schemas.microsoft.com/office/drawing/2014/main" id="{2600B2A8-30BA-48BB-9059-2E930555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b4633049d2d94bf7"/>
              </a:rPr>
              <a:t>Apri Food Arena</a:t>
            </a:r>
          </a:p>
        </p:txBody>
      </p:sp>
      <p:sp>
        <p:nvSpPr>
          <p:cNvPr id="6" name="footer-repo">
            <a:extLst xmlns:a="http://schemas.openxmlformats.org/drawingml/2006/main">
              <a:ext uri="{FF2B5EF4-FFF2-40B4-BE49-F238E27FC236}">
                <a16:creationId xmlns:a16="http://schemas.microsoft.com/office/drawing/2014/main" id="{C6A73989-2875-4BFB-9156-57AAB1FB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a455ddf230574f8c"/>
              </a:rPr>
              <a:t>Codice GitHub</a:t>
            </a:r>
          </a:p>
        </p:txBody>
      </p:sp>
      <p:sp>
        <p:nvSpPr>
          <p:cNvPr id="7" name="footer-proof">
            <a:extLst xmlns:a="http://schemas.openxmlformats.org/drawingml/2006/main">
              <a:ext uri="{FF2B5EF4-FFF2-40B4-BE49-F238E27FC236}">
                <a16:creationId xmlns:a16="http://schemas.microsoft.com/office/drawing/2014/main" id="{447B2F8E-E59E-4084-AF0F-D3ECB1CF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00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5b18f6f622eb4e01"/>
              </a:rPr>
              <a:t>Prova Fuji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8E3DC19-5EAB-4BCC-87B0-CD77027A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</p:spTree>
    <p:extLst>
      <p:ext uri="{BB962C8B-B14F-4D97-AF65-F5344CB8AC3E}">
        <p14:creationId xmlns:p14="http://schemas.microsoft.com/office/powerpoint/2010/main" val="888567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2026-09-19T11:44:20.8530000Z</dcterms:created>
  <dcterms:modified xsi:type="dcterms:W3CDTF">2026-09-19T11:44:20.8530000Z</dcterms:modified>
</coreProperties>
</file>
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27ff81c1d949ad" /><Relationship Type="http://schemas.openxmlformats.org/officeDocument/2006/relationships/extended-properties" Target="/docProps/app.xml" Id="R4a8ceb4ff4a14032" /><Relationship Type="http://schemas.openxmlformats.org/officeDocument/2006/relationships/officeDocument" Target="/ppt/presentation.xml" Id="R0df58abcadef42d6" /></Relationships>
</file>

<file path=ppt/presentation.xml><?xml version="1.0" encoding="utf-8"?>
<p:presentation xmlns:p="http://schemas.openxmlformats.org/presentationml/2006/main">
  <p:sldMasterIdLst>
    <p:sldMasterId xmlns:r="http://schemas.openxmlformats.org/officeDocument/2006/relationships" id="2147483648" r:id="R1d67bae122b6426a"/>
  </p:sldMasterIdLst>
  <p:notesMasterIdLst>
    <p:notesMasterId xmlns:r="http://schemas.openxmlformats.org/officeDocument/2006/relationships" r:id="Rbf4878b316324854"/>
  </p:notesMasterIdLst>
  <p:sldIdLst>
    <p:sldId xmlns:r="http://schemas.openxmlformats.org/officeDocument/2006/relationships" id="256" r:id="R82a6df61074a4537"/>
    <p:sldId xmlns:r="http://schemas.openxmlformats.org/officeDocument/2006/relationships" id="257" r:id="Rdc0c34feb3684eff"/>
    <p:sldId xmlns:r="http://schemas.openxmlformats.org/officeDocument/2006/relationships" id="258" r:id="R67961a5b0fd14155"/>
    <p:sldId xmlns:r="http://schemas.openxmlformats.org/officeDocument/2006/relationships" id="259" r:id="Rff88b6ccf1e54229"/>
    <p:sldId xmlns:r="http://schemas.openxmlformats.org/officeDocument/2006/relationships" id="260" r:id="Rf18ffcc081684ea3"/>
    <p:sldId xmlns:r="http://schemas.openxmlformats.org/officeDocument/2006/relationships" id="261" r:id="R34b7e34e5f0e4218"/>
    <p:sldId xmlns:r="http://schemas.openxmlformats.org/officeDocument/2006/relationships" id="262" r:id="R8cb6c04fb0b84dc0"/>
    <p:sldId xmlns:r="http://schemas.openxmlformats.org/officeDocument/2006/relationships" id="263" r:id="R174999342ee84c7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03f9419db2d4238" /><Relationship Type="http://schemas.openxmlformats.org/officeDocument/2006/relationships/slideMaster" Target="/ppt/slideMasters/slideMaster1.xml" Id="R1d67bae122b6426a" /><Relationship Type="http://schemas.openxmlformats.org/officeDocument/2006/relationships/notesMaster" Target="/ppt/notesMasters/notesMaster1.xml" Id="Rbf4878b316324854" /><Relationship Type="http://schemas.openxmlformats.org/officeDocument/2006/relationships/presProps" Target="/ppt/presProps.xml" Id="R082830265bd149ee" /><Relationship Type="http://schemas.openxmlformats.org/officeDocument/2006/relationships/tableStyles" Target="/ppt/tableStyles.xml" Id="Re7199b8dabe24942" /><Relationship Type="http://schemas.openxmlformats.org/officeDocument/2006/relationships/slide" Target="/ppt/slides/slide1.xml" Id="R82a6df61074a4537" /><Relationship Type="http://schemas.openxmlformats.org/officeDocument/2006/relationships/slide" Target="/ppt/slides/slide2.xml" Id="Rdc0c34feb3684eff" /><Relationship Type="http://schemas.openxmlformats.org/officeDocument/2006/relationships/slide" Target="/ppt/slides/slide3.xml" Id="R67961a5b0fd14155" /><Relationship Type="http://schemas.openxmlformats.org/officeDocument/2006/relationships/slide" Target="/ppt/slides/slide4.xml" Id="Rff88b6ccf1e54229" /><Relationship Type="http://schemas.openxmlformats.org/officeDocument/2006/relationships/slide" Target="/ppt/slides/slide5.xml" Id="Rf18ffcc081684ea3" /><Relationship Type="http://schemas.openxmlformats.org/officeDocument/2006/relationships/slide" Target="/ppt/slides/slide6.xml" Id="R34b7e34e5f0e4218" /><Relationship Type="http://schemas.openxmlformats.org/officeDocument/2006/relationships/slide" Target="/ppt/slides/slide7.xml" Id="R8cb6c04fb0b84dc0" /><Relationship Type="http://schemas.openxmlformats.org/officeDocument/2006/relationships/slide" Target="/ppt/slides/slide8.xml" Id="R174999342ee84c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61f4b50b7544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67ebb8fd5e49c6" /><Relationship Type="http://schemas.openxmlformats.org/officeDocument/2006/relationships/notesMaster" Target="/ppt/notesMasters/notesMaster1.xml" Id="Rc6b405dd47eb4c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96f00f4d374ecc" /><Relationship Type="http://schemas.openxmlformats.org/officeDocument/2006/relationships/notesMaster" Target="/ppt/notesMasters/notesMaster1.xml" Id="Rbbbc3ded800248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42be5788674ca3" /><Relationship Type="http://schemas.openxmlformats.org/officeDocument/2006/relationships/notesMaster" Target="/ppt/notesMasters/notesMaster1.xml" Id="Ra88944d841644f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9db33ceada04a9f" /><Relationship Type="http://schemas.openxmlformats.org/officeDocument/2006/relationships/notesMaster" Target="/ppt/notesMasters/notesMaster1.xml" Id="R0c9858ea05ff4d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193f0447894ccf" /><Relationship Type="http://schemas.openxmlformats.org/officeDocument/2006/relationships/notesMaster" Target="/ppt/notesMasters/notesMaster1.xml" Id="Rb3423e7c479a4f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94e437a96f4bf1" /><Relationship Type="http://schemas.openxmlformats.org/officeDocument/2006/relationships/notesMaster" Target="/ppt/notesMasters/notesMaster1.xml" Id="R6fbd3402638041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2456bbcf0a4724" /><Relationship Type="http://schemas.openxmlformats.org/officeDocument/2006/relationships/notesMaster" Target="/ppt/notesMasters/notesMaster1.xml" Id="Ra39d4876fb314d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287cc5d5cb456e" /><Relationship Type="http://schemas.openxmlformats.org/officeDocument/2006/relationships/notesMaster" Target="/ppt/notesMasters/notesMaster1.xml" Id="Rb13b695cd46746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 DIRE</a:t>
            </a:r>
          </a:p>
          <a:p xmlns:a="http://schemas.openxmlformats.org/drawingml/2006/main">
            <a:r>
              <a:t>Anna è a Pescara, in Viale Pindaro. Ha dieci euro e mezz’ora per pranzare. Scrive una richiesta su Food Arena. Invece di cercare in tanti menu, aspetta le proposte dei locali vicini.</a:t>
            </a:r>
          </a:p>
          <a:p xmlns:a="http://schemas.openxmlformats.org/drawingml/2006/main">
            <a:r>
              <a:t/>
            </a:r>
          </a:p>
          <a:p xmlns:a="http://schemas.openxmlformats.org/drawingml/2006/main">
            <a:r>
              <a:t>PER LE DOMANDE</a:t>
            </a:r>
          </a:p>
          <a:p xmlns:a="http://schemas.openxmlformats.org/drawingml/2006/main">
            <a:r>
              <a:t>I 10 euro sono il tetto massimo del cliente. Se sceglie un’offerta da 8,50 euro, paga 8,50 euro. Il progetto parte da richieste individuali aperte, non da gruppi obbligatori né da un menu unico.</a:t>
            </a:r>
          </a:p>
          <a:p xmlns:a="http://schemas.openxmlformats.org/drawingml/2006/main">
            <a:r>
              <a:t/>
            </a:r>
          </a:p>
          <a:p xmlns:a="http://schemas.openxmlformats.org/drawingml/2006/main">
            <a:r>
              <a:t>FONTI DEL PROGETTO</a:t>
            </a:r>
          </a:p>
          <a:p xmlns:a="http://schemas.openxmlformats.org/drawingml/2006/main">
            <a:r>
              <a:t>https://food-arena.eldamarchigiano.chatgpt.site</a:t>
            </a:r>
          </a:p>
          <a:p xmlns:a="http://schemas.openxmlformats.org/drawingml/2006/main">
            <a:r>
              <a:t>https://github.com/SPAZIOZEROLAB/food-arena</a:t>
            </a:r>
          </a:p>
          <a:p xmlns:a="http://schemas.openxmlformats.org/drawingml/2006/main">
            <a:r>
              <a:t>https://food-arena.eldamarchigiano.chatgpt.site/mandato</a:t>
            </a:r>
          </a:p>
          <a:p xmlns:a="http://schemas.openxmlformats.org/drawingml/2006/main">
            <a:r>
              <a:t>Proposta commerciale e piano di lancio concordati con la titolare il 19 settembre 2026. Nessun dato di mercato esterno utilizzato.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 DIRE</a:t>
            </a:r>
          </a:p>
          <a:p xmlns:a="http://schemas.openxmlformats.org/drawingml/2006/main">
            <a:r>
              <a:t>Tutti i locali aderenti che possono soddisfare la richiesta hanno la possibilità di proporre. Anna confronta piatto, prezzo e tempi. Le offerte continuano ad arrivare fino alla sua scelta o alla scadenza. Può anche non comprare. Questi tre locali sono esempi fittizi della demo.</a:t>
            </a:r>
          </a:p>
          <a:p xmlns:a="http://schemas.openxmlformats.org/drawingml/2006/main">
            <a:r>
              <a:t/>
            </a:r>
          </a:p>
          <a:p xmlns:a="http://schemas.openxmlformats.org/drawingml/2006/main">
            <a:r>
              <a:t>PER LE DOMANDE</a:t>
            </a:r>
          </a:p>
          <a:p xmlns:a="http://schemas.openxmlformats.org/drawingml/2006/main">
            <a:r>
              <a:t>La frase "tutti i locali aderenti compatibili" significa accesso aperto nel modello di prodotto, subordinato a zona, budget, tempo, menu e disponibilità. Non promette un numero illimitato di risultati per pagina, né offerte da locali non aderenti. La scelta chiude la singola richiesta dopo la verifica della disponibilità e la conferma della riserva. Codice di ritiro nascosto fino al successo della riserva.</a:t>
            </a:r>
          </a:p>
          <a:p xmlns:a="http://schemas.openxmlformats.org/drawingml/2006/main">
            <a:r>
              <a:t/>
            </a:r>
          </a:p>
          <a:p xmlns:a="http://schemas.openxmlformats.org/drawingml/2006/main">
            <a:r>
              <a:t>FONTI DEL PROGETTO</a:t>
            </a:r>
          </a:p>
          <a:p xmlns:a="http://schemas.openxmlformats.org/drawingml/2006/main">
            <a:r>
              <a:t>https://food-arena.eldamarchigiano.chatgpt.site</a:t>
            </a:r>
          </a:p>
          <a:p xmlns:a="http://schemas.openxmlformats.org/drawingml/2006/main">
            <a:r>
              <a:t>https://github.com/SPAZIOZEROLAB/food-arena</a:t>
            </a:r>
          </a:p>
          <a:p xmlns:a="http://schemas.openxmlformats.org/drawingml/2006/main">
            <a:r>
              <a:t>https://food-arena.eldamarchigiano.chatgpt.site/mandato</a:t>
            </a:r>
          </a:p>
          <a:p xmlns:a="http://schemas.openxmlformats.org/drawingml/2006/main">
            <a:r>
              <a:t>Proposta commerciale e piano di lancio concordati con la titolare il 19 settembre 2026. Nessun dato di mercato esterno utilizzato.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 DIRE</a:t>
            </a:r>
          </a:p>
          <a:p xmlns:a="http://schemas.openxmlformats.org/drawingml/2006/main">
            <a:r>
              <a:t>Luca gestisce un locale. Decide cosa vende, a quale prezzo e quante porzioni può preparare. Può rispondere personalmente oppure autorizzare l’AI a proporre piatti entro quelle regole. Oggi l’automazione funziona mentre il suo pannello resta aperto.</a:t>
            </a:r>
          </a:p>
          <a:p xmlns:a="http://schemas.openxmlformats.org/drawingml/2006/main">
            <a:r>
              <a:t/>
            </a:r>
          </a:p>
          <a:p xmlns:a="http://schemas.openxmlformats.org/drawingml/2006/main">
            <a:r>
              <a:t>PER LE DOMANDE</a:t>
            </a:r>
          </a:p>
          <a:p xmlns:a="http://schemas.openxmlformats.org/drawingml/2006/main">
            <a:r>
              <a:t>Il modello MiniLM gira nel browser. Confronta semanticamente richieste e piatti. Il gestore registrato tiene la chiave di firma nel browser. Le regole applicative controllano menu, quantità, prezzo e tempi. Nel prototipo non sono promesse notifiche push o funzionamento autonomo con pannello chiuso.</a:t>
            </a:r>
          </a:p>
          <a:p xmlns:a="http://schemas.openxmlformats.org/drawingml/2006/main">
            <a:r>
              <a:t/>
            </a:r>
          </a:p>
          <a:p xmlns:a="http://schemas.openxmlformats.org/drawingml/2006/main">
            <a:r>
              <a:t>FONTI DEL PROGETTO</a:t>
            </a:r>
          </a:p>
          <a:p xmlns:a="http://schemas.openxmlformats.org/drawingml/2006/main">
            <a:r>
              <a:t>https://food-arena.eldamarchigiano.chatgpt.site</a:t>
            </a:r>
          </a:p>
          <a:p xmlns:a="http://schemas.openxmlformats.org/drawingml/2006/main">
            <a:r>
              <a:t>https://github.com/SPAZIOZEROLAB/food-arena</a:t>
            </a:r>
          </a:p>
          <a:p xmlns:a="http://schemas.openxmlformats.org/drawingml/2006/main">
            <a:r>
              <a:t>https://food-arena.eldamarchigiano.chatgpt.site/mandato</a:t>
            </a:r>
          </a:p>
          <a:p xmlns:a="http://schemas.openxmlformats.org/drawingml/2006/main">
            <a:r>
              <a:t>Proposta commerciale e piano di lancio concordati con la titolare il 19 settembre 2026. Nessun dato di mercato esterno utilizzato.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 DIRE</a:t>
            </a:r>
          </a:p>
          <a:p xmlns:a="http://schemas.openxmlformats.org/drawingml/2006/main">
            <a:r>
              <a:t>Il cliente paga soltanto il prezzo del pranzo al locale. Proponiamo che sia il locale a pagare Food Arena: settanta centesimi per ogni ritiro completato. Iscrizione e invio delle offerte sono gratuiti, senza canone. È un prezzo da verificare, oggi non attivo.</a:t>
            </a:r>
          </a:p>
          <a:p xmlns:a="http://schemas.openxmlformats.org/drawingml/2006/main">
            <a:r>
              <a:t/>
            </a:r>
          </a:p>
          <a:p xmlns:a="http://schemas.openxmlformats.org/drawingml/2006/main">
            <a:r>
              <a:t>PER LE DOMANDE</a:t>
            </a:r>
          </a:p>
          <a:p xmlns:a="http://schemas.openxmlformats.org/drawingml/2006/main">
            <a:r>
              <a:t>Modello commerciale proposto, non fatturazione attiva: il cliente paga 10 euro per un’offerta da 10 euro. Il locale incassa 10 euro e sostiene separatamente 0,70 euro di costo per Food Arena. Gli restano 9,30 euro prima degli altri costi, non 9,30 euro di utile. Food Arena avrebbe 0,70 euro di ricavo lordo, non utile. Non è il 70%, né 0,70 centesimi. La precedente ipotesi di 0,30 euro viene sostituita da questa proposta da validare. Nessun canone proposto. La sostenibilità richiede ordini incrementali, commissione accettata e costi misurati.</a:t>
            </a:r>
          </a:p>
          <a:p xmlns:a="http://schemas.openxmlformats.org/drawingml/2006/main">
            <a:r>
              <a:t/>
            </a:r>
          </a:p>
          <a:p xmlns:a="http://schemas.openxmlformats.org/drawingml/2006/main">
            <a:r>
              <a:t>FONTI DEL PROGETTO</a:t>
            </a:r>
          </a:p>
          <a:p xmlns:a="http://schemas.openxmlformats.org/drawingml/2006/main">
            <a:r>
              <a:t>https://food-arena.eldamarchigiano.chatgpt.site</a:t>
            </a:r>
          </a:p>
          <a:p xmlns:a="http://schemas.openxmlformats.org/drawingml/2006/main">
            <a:r>
              <a:t>https://github.com/SPAZIOZEROLAB/food-arena</a:t>
            </a:r>
          </a:p>
          <a:p xmlns:a="http://schemas.openxmlformats.org/drawingml/2006/main">
            <a:r>
              <a:t>https://food-arena.eldamarchigiano.chatgpt.site/mandato</a:t>
            </a:r>
          </a:p>
          <a:p xmlns:a="http://schemas.openxmlformats.org/drawingml/2006/main">
            <a:r>
              <a:t>Proposta commerciale e piano di lancio concordati con la titolare il 19 settembre 2026. Nessun dato di mercato esterno utilizzato.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 DIRE</a:t>
            </a:r>
          </a:p>
          <a:p xmlns:a="http://schemas.openxmlformats.org/drawingml/2006/main">
            <a:r>
              <a:t>Il budget del locale serve a pagare queste commissioni. Per capirlo, immaginiamo sette euro messi da parte: coprirebbero dieci ritiri da settanta centesimi. Sono separati dai soldi del pranzo. Oggi non versiamo euro: la prova usa gettoni senza valore reale.</a:t>
            </a:r>
          </a:p>
          <a:p xmlns:a="http://schemas.openxmlformats.org/drawingml/2006/main">
            <a:r>
              <a:t/>
            </a:r>
          </a:p>
          <a:p xmlns:a="http://schemas.openxmlformats.org/drawingml/2006/main">
            <a:r>
              <a:t>PER LE DOMANDE</a:t>
            </a:r>
          </a:p>
          <a:p xmlns:a="http://schemas.openxmlformats.org/drawingml/2006/main">
            <a:r>
              <a:t>7 / 0,70 = 10 ritiri. L’esempio in euro spiega una possibile provvista commerciale futura. Non descrive un versamento in euro già disponibile, un cambio euro/AVAX o una tariffa applicata onchain oggi. Il contratto attuale custodisce AVAX di prova. Lo sponsor finanzia la demo. Ricarica e uscita in denaro reale, termini commerciali, costi e gestione delle contestazioni devono essere definiti prima del lancio commerciale.</a:t>
            </a:r>
          </a:p>
          <a:p xmlns:a="http://schemas.openxmlformats.org/drawingml/2006/main">
            <a:r>
              <a:t/>
            </a:r>
          </a:p>
          <a:p xmlns:a="http://schemas.openxmlformats.org/drawingml/2006/main">
            <a:r>
              <a:t>FONTI DEL PROGETTO</a:t>
            </a:r>
          </a:p>
          <a:p xmlns:a="http://schemas.openxmlformats.org/drawingml/2006/main">
            <a:r>
              <a:t>https://food-arena.eldamarchigiano.chatgpt.site</a:t>
            </a:r>
          </a:p>
          <a:p xmlns:a="http://schemas.openxmlformats.org/drawingml/2006/main">
            <a:r>
              <a:t>https://github.com/SPAZIOZEROLAB/food-arena</a:t>
            </a:r>
          </a:p>
          <a:p xmlns:a="http://schemas.openxmlformats.org/drawingml/2006/main">
            <a:r>
              <a:t>https://food-arena.eldamarchigiano.chatgpt.site/mandato</a:t>
            </a:r>
          </a:p>
          <a:p xmlns:a="http://schemas.openxmlformats.org/drawingml/2006/main">
            <a:r>
              <a:t>Proposta commerciale e piano di lancio concordati con la titolare il 19 settembre 2026. Nessun dato di mercato esterno utilizzato.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 DIRE</a:t>
            </a:r>
          </a:p>
          <a:p xmlns:a="http://schemas.openxmlformats.org/drawingml/2006/main">
            <a:r>
              <a:t>La cassaforte è un programma su Avalanche che controlla firme e limiti. Alla scelta riserva la commissione. Al ritiro Luca controlla il codice e firma la conferma. Il programma accredita Food Arena una sola volta. Se invece Anna non ritira, alla scadenza una transazione libera la riserva. La consegna resta attestata da Luca.</a:t>
            </a:r>
          </a:p>
          <a:p xmlns:a="http://schemas.openxmlformats.org/drawingml/2006/main">
            <a:r>
              <a:t/>
            </a:r>
          </a:p>
          <a:p xmlns:a="http://schemas.openxmlformats.org/drawingml/2006/main">
            <a:r>
              <a:t>PER LE DOMANDE</a:t>
            </a:r>
          </a:p>
          <a:p xmlns:a="http://schemas.openxmlformats.org/drawingml/2006/main">
            <a:r>
              <a:t>Il contratto FoodArenaBudgetFuji custodisce il budget. Verifica firme EIP-712, beneficiario, limiti per ordine e cumulativi. Hold riserva fondi, Settlement richiede firma del merchant e accredita il beneficiario, Claim permette il prelievo separato. Release libera le prenotazioni scadute tramite transazione, non per il solo passare del tempo. Il contratto rifiuta la seconda assegnazione dello stesso ordine. Il ritiro resta una dichiarazione del gestore e il sistema non prova autonomamente la consegna fisica. È possibile costruire un marketplace senza blockchain: il valore specifico qui è affidare custodia e regole economiche a un contratto verificabile e operativo. Le chiavi dei tre locali fittizi sono gestite dal server, mentre quella dei gestori registrati resta nel browser. Nel prototipo sponsor, relayer e beneficiario coincidono nella stessa piattaforma, distinti dal merchant registrato.</a:t>
            </a:r>
          </a:p>
          <a:p xmlns:a="http://schemas.openxmlformats.org/drawingml/2006/main">
            <a:r>
              <a:t/>
            </a:r>
          </a:p>
          <a:p xmlns:a="http://schemas.openxmlformats.org/drawingml/2006/main">
            <a:r>
              <a:t>FONTI DEL PROGETTO</a:t>
            </a:r>
          </a:p>
          <a:p xmlns:a="http://schemas.openxmlformats.org/drawingml/2006/main">
            <a:r>
              <a:t>https://food-arena.eldamarchigiano.chatgpt.site</a:t>
            </a:r>
          </a:p>
          <a:p xmlns:a="http://schemas.openxmlformats.org/drawingml/2006/main">
            <a:r>
              <a:t>https://github.com/SPAZIOZEROLAB/food-arena</a:t>
            </a:r>
          </a:p>
          <a:p xmlns:a="http://schemas.openxmlformats.org/drawingml/2006/main">
            <a:r>
              <a:t>https://food-arena.eldamarchigiano.chatgpt.site/mandato</a:t>
            </a:r>
          </a:p>
          <a:p xmlns:a="http://schemas.openxmlformats.org/drawingml/2006/main">
            <a:r>
              <a:t>Proposta commerciale e piano di lancio concordati con la titolare il 19 settembre 2026. Nessun dato di mercato esterno utilizzato.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 DIRE</a:t>
            </a:r>
          </a:p>
          <a:p xmlns:a="http://schemas.openxmlformats.org/drawingml/2006/main">
            <a:r>
              <a:t>L’app e il codice sono pubblici. Possiamo mostrare richiesta, offerte, scelta e ritiro simulato, con transazioni vere sulla rete di prova Fuji. Abbiamo verificato il funzionamento tecnico. I locali sono fittizi e il passaggio ai pagamenti reali resta da realizzare.</a:t>
            </a:r>
          </a:p>
          <a:p xmlns:a="http://schemas.openxmlformats.org/drawingml/2006/main">
            <a:r>
              <a:t/>
            </a:r>
          </a:p>
          <a:p xmlns:a="http://schemas.openxmlformats.org/drawingml/2006/main">
            <a:r>
              <a:t>PER LE DOMANDE</a:t>
            </a:r>
          </a:p>
          <a:p xmlns:a="http://schemas.openxmlformats.org/drawingml/2006/main">
            <a:r>
              <a:t>Verifiche completate il 19 settembre 2026: 13 gruppi di test locali del contratto, 14 controlli Fuji, 40 controlli di integrazione su 45 richieste HTTP con massimo 12 operazioni concorrenti, 6 test SQL in memoria. Verificati anche percorso gestore con AI e firme nel browser, percorso pubblico di scelta e ritiro e visualizzazione mobile. Questi controlli non equivalgono ad audit di produzione o validazione commerciale. Contratto Fuji 43113: 0x1077e1317345de42af33B0E048bC2cD725Cf9fC5. Hold pubblico 0x7897bea409a60ff1a766bd732f0e972c69e169d6db2a23023967cdedd0a3421d. Settlement pubblico 0x6bad20141e0519a895405fdf0a045db5ea7787574e6cad3dea876f9193517136. Licenza MIT senza scadenza. Impegno a mantenere il repository pubblico almeno fino al 19 dicembre 2026.</a:t>
            </a:r>
          </a:p>
          <a:p xmlns:a="http://schemas.openxmlformats.org/drawingml/2006/main">
            <a:r>
              <a:t/>
            </a:r>
          </a:p>
          <a:p xmlns:a="http://schemas.openxmlformats.org/drawingml/2006/main">
            <a:r>
              <a:t>FONTI DEL PROGETTO</a:t>
            </a:r>
          </a:p>
          <a:p xmlns:a="http://schemas.openxmlformats.org/drawingml/2006/main">
            <a:r>
              <a:t>https://food-arena.eldamarchigiano.chatgpt.site</a:t>
            </a:r>
          </a:p>
          <a:p xmlns:a="http://schemas.openxmlformats.org/drawingml/2006/main">
            <a:r>
              <a:t>https://github.com/SPAZIOZEROLAB/food-arena</a:t>
            </a:r>
          </a:p>
          <a:p xmlns:a="http://schemas.openxmlformats.org/drawingml/2006/main">
            <a:r>
              <a:t>https://food-arena.eldamarchigiano.chatgpt.site/mandato</a:t>
            </a:r>
          </a:p>
          <a:p xmlns:a="http://schemas.openxmlformats.org/drawingml/2006/main">
            <a:r>
              <a:t>Proposta commerciale e piano di lancio concordati con la titolare il 19 settembre 2026. Nessun dato di mercato esterno utilizzato.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 DIRE</a:t>
            </a:r>
          </a:p>
          <a:p xmlns:a="http://schemas.openxmlformats.org/drawingml/2006/main">
            <a:r>
              <a:t>Il prossimo passo proposto è una zona di Pescara, con gestori e clienti da reclutare. Misureremo ordini aggiuntivi, clienti che tornano e lavoro dei locali. Verificheremo se pagherebbero la commissione e se il servizio copre i costi. Il mercato commerciale deve ancora essere dimostrato.</a:t>
            </a:r>
          </a:p>
          <a:p xmlns:a="http://schemas.openxmlformats.org/drawingml/2006/main">
            <a:r>
              <a:t/>
            </a:r>
          </a:p>
          <a:p xmlns:a="http://schemas.openxmlformats.org/drawingml/2006/main">
            <a:r>
              <a:t>PER LE DOMANDE</a:t>
            </a:r>
          </a:p>
          <a:p xmlns:a="http://schemas.openxmlformats.org/drawingml/2006/main">
            <a:r>
              <a:t>Non esistono adesioni commerciali o risultati del pilota dichiarati. Il test con due locali e dieci studenti era una prima ipotesi, non un limite dell’arena e non un’attività svolta. Il lancio proposto parte dal reclutamento diretto dei gestori nella stessa microzona, dalla pubblicazione delle loro disponibilità e dalla promozione di un unico link ai clienti della zona. Non sono stati contattati terzi per questa presentazione. Le metriche devono distinguere ordini realmente aggiuntivi, tasso di scelta e ritiro, ritorno dei clienti, tempo di lavoro del gestore, disponibilità a pagare e costi per ordine. Non promettiamo redditività né vittoria della gara.</a:t>
            </a:r>
          </a:p>
          <a:p xmlns:a="http://schemas.openxmlformats.org/drawingml/2006/main">
            <a:r>
              <a:t/>
            </a:r>
          </a:p>
          <a:p xmlns:a="http://schemas.openxmlformats.org/drawingml/2006/main">
            <a:r>
              <a:t>FONTI DEL PROGETTO</a:t>
            </a:r>
          </a:p>
          <a:p xmlns:a="http://schemas.openxmlformats.org/drawingml/2006/main">
            <a:r>
              <a:t>https://food-arena.eldamarchigiano.chatgpt.site</a:t>
            </a:r>
          </a:p>
          <a:p xmlns:a="http://schemas.openxmlformats.org/drawingml/2006/main">
            <a:r>
              <a:t>https://github.com/SPAZIOZEROLAB/food-arena</a:t>
            </a:r>
          </a:p>
          <a:p xmlns:a="http://schemas.openxmlformats.org/drawingml/2006/main">
            <a:r>
              <a:t>https://food-arena.eldamarchigiano.chatgpt.site/mandato</a:t>
            </a:r>
          </a:p>
          <a:p xmlns:a="http://schemas.openxmlformats.org/drawingml/2006/main">
            <a:r>
              <a:t>Proposta commerciale e piano di lancio concordati con la titolare il 19 settembre 2026. Nessun dato di mercato esterno utilizzato.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98bac6fad94a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89a2c2a724425b" /><Relationship Type="http://schemas.openxmlformats.org/officeDocument/2006/relationships/slideLayout" Target="/ppt/slideLayouts/slideLayout1.xml" Id="R94c43286044f44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c43286044f44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da8a270b3f34076" /><Relationship Type="http://schemas.openxmlformats.org/officeDocument/2006/relationships/hyperlink" Target="https://food-arena.eldamarchigiano.chatgpt.site" TargetMode="External" Id="Rbb0c89b2ba994a11" /><Relationship Type="http://schemas.openxmlformats.org/officeDocument/2006/relationships/hyperlink" Target="https://github.com/SPAZIOZEROLAB/food-arena" TargetMode="External" Id="Rd65919aa7b8f4cc9" /><Relationship Type="http://schemas.openxmlformats.org/officeDocument/2006/relationships/hyperlink" Target="https://food-arena.eldamarchigiano.chatgpt.site/mandato" TargetMode="External" Id="R89661d206dc9479e" /><Relationship Type="http://schemas.openxmlformats.org/officeDocument/2006/relationships/notesSlide" Target="/ppt/notesSlides/notesSlide1.xml" Id="R841b0ee7ff2242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ab0c86d01141d9" /><Relationship Type="http://schemas.openxmlformats.org/officeDocument/2006/relationships/hyperlink" Target="https://food-arena.eldamarchigiano.chatgpt.site" TargetMode="External" Id="R50a5d7c6c8624e60" /><Relationship Type="http://schemas.openxmlformats.org/officeDocument/2006/relationships/hyperlink" Target="https://github.com/SPAZIOZEROLAB/food-arena" TargetMode="External" Id="R8729d485df684d5b" /><Relationship Type="http://schemas.openxmlformats.org/officeDocument/2006/relationships/hyperlink" Target="https://food-arena.eldamarchigiano.chatgpt.site/mandato" TargetMode="External" Id="Radba65b0b968415f" /><Relationship Type="http://schemas.openxmlformats.org/officeDocument/2006/relationships/notesSlide" Target="/ppt/notesSlides/notesSlide2.xml" Id="R332ee92fb61547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3f15f8f057461f" /><Relationship Type="http://schemas.openxmlformats.org/officeDocument/2006/relationships/hyperlink" Target="https://food-arena.eldamarchigiano.chatgpt.site" TargetMode="External" Id="R489be5f4b0ab4e5c" /><Relationship Type="http://schemas.openxmlformats.org/officeDocument/2006/relationships/hyperlink" Target="https://github.com/SPAZIOZEROLAB/food-arena" TargetMode="External" Id="R6b6fc6b8d5b74325" /><Relationship Type="http://schemas.openxmlformats.org/officeDocument/2006/relationships/hyperlink" Target="https://food-arena.eldamarchigiano.chatgpt.site/mandato" TargetMode="External" Id="Rf5e73682c2b74866" /><Relationship Type="http://schemas.openxmlformats.org/officeDocument/2006/relationships/notesSlide" Target="/ppt/notesSlides/notesSlide3.xml" Id="R84d1a3081cbf4e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43143192354e20" /><Relationship Type="http://schemas.openxmlformats.org/officeDocument/2006/relationships/hyperlink" Target="https://food-arena.eldamarchigiano.chatgpt.site" TargetMode="External" Id="R6e23c07057314e3c" /><Relationship Type="http://schemas.openxmlformats.org/officeDocument/2006/relationships/hyperlink" Target="https://github.com/SPAZIOZEROLAB/food-arena" TargetMode="External" Id="Re95bc60908de41d0" /><Relationship Type="http://schemas.openxmlformats.org/officeDocument/2006/relationships/hyperlink" Target="https://food-arena.eldamarchigiano.chatgpt.site/mandato" TargetMode="External" Id="Rf4162602d0b24dc0" /><Relationship Type="http://schemas.openxmlformats.org/officeDocument/2006/relationships/notesSlide" Target="/ppt/notesSlides/notesSlide4.xml" Id="R4eebc20d312946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adb8e04782744e1" /><Relationship Type="http://schemas.openxmlformats.org/officeDocument/2006/relationships/hyperlink" Target="https://food-arena.eldamarchigiano.chatgpt.site" TargetMode="External" Id="R2d16c428a8db4f8b" /><Relationship Type="http://schemas.openxmlformats.org/officeDocument/2006/relationships/hyperlink" Target="https://github.com/SPAZIOZEROLAB/food-arena" TargetMode="External" Id="R3cdf48b7ab6541b0" /><Relationship Type="http://schemas.openxmlformats.org/officeDocument/2006/relationships/hyperlink" Target="https://food-arena.eldamarchigiano.chatgpt.site/mandato" TargetMode="External" Id="R346079df4d834814" /><Relationship Type="http://schemas.openxmlformats.org/officeDocument/2006/relationships/notesSlide" Target="/ppt/notesSlides/notesSlide5.xml" Id="Rcfa2b57476c945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80fc406bcf44794" /><Relationship Type="http://schemas.openxmlformats.org/officeDocument/2006/relationships/hyperlink" Target="https://food-arena.eldamarchigiano.chatgpt.site" TargetMode="External" Id="Ra10c2e60565542de" /><Relationship Type="http://schemas.openxmlformats.org/officeDocument/2006/relationships/hyperlink" Target="https://github.com/SPAZIOZEROLAB/food-arena" TargetMode="External" Id="Rfa2feec7888f4869" /><Relationship Type="http://schemas.openxmlformats.org/officeDocument/2006/relationships/hyperlink" Target="https://food-arena.eldamarchigiano.chatgpt.site/mandato" TargetMode="External" Id="R0a04f06b94f94aee" /><Relationship Type="http://schemas.openxmlformats.org/officeDocument/2006/relationships/notesSlide" Target="/ppt/notesSlides/notesSlide6.xml" Id="Rbff876dff83945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38827ee6ba746bd" /><Relationship Type="http://schemas.openxmlformats.org/officeDocument/2006/relationships/hyperlink" Target="https://food-arena.eldamarchigiano.chatgpt.site" TargetMode="External" Id="R65017007f240477a" /><Relationship Type="http://schemas.openxmlformats.org/officeDocument/2006/relationships/hyperlink" Target="https://github.com/SPAZIOZEROLAB/food-arena" TargetMode="External" Id="R604636bfc4a04f87" /><Relationship Type="http://schemas.openxmlformats.org/officeDocument/2006/relationships/hyperlink" Target="https://food-arena.eldamarchigiano.chatgpt.site/mandato" TargetMode="External" Id="Ree618621edf54c8c" /><Relationship Type="http://schemas.openxmlformats.org/officeDocument/2006/relationships/notesSlide" Target="/ppt/notesSlides/notesSlide7.xml" Id="R76a4e9c78f7148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7e7e7ad2e14326" /><Relationship Type="http://schemas.openxmlformats.org/officeDocument/2006/relationships/hyperlink" Target="https://food-arena.eldamarchigiano.chatgpt.site" TargetMode="External" Id="Rc6bf222a6add4943" /><Relationship Type="http://schemas.openxmlformats.org/officeDocument/2006/relationships/hyperlink" Target="https://github.com/SPAZIOZEROLAB/food-arena" TargetMode="External" Id="Rcf91fdd02c10484a" /><Relationship Type="http://schemas.openxmlformats.org/officeDocument/2006/relationships/hyperlink" Target="https://food-arena.eldamarchigiano.chatgpt.site/mandato" TargetMode="External" Id="R0773e52fc0584bf4" /><Relationship Type="http://schemas.openxmlformats.org/officeDocument/2006/relationships/notesSlide" Target="/ppt/notesSlides/notesSlide8.xml" Id="R4914130baded4526" /></Relationships>
</file>

<file path=ppt/slides/slide1.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0" name="brand">
            <a:extLst xmlns:a="http://schemas.openxmlformats.org/drawingml/2006/main">
              <a:ext uri="{FF2B5EF4-FFF2-40B4-BE49-F238E27FC236}">
                <a16:creationId xmlns:a16="http://schemas.microsoft.com/office/drawing/2014/main" id="{7E317E8B-DF8E-4FD8-B93E-CE37069815FB}"/>
              </a:ext>
            </a:extLst>
          </p:cNvPr>
          <p:cNvSpPr>
            <a:spLocks xmlns:a="http://schemas.openxmlformats.org/drawingml/2006/main" noGrp="1"/>
          </p:cNvSpPr>
          <p:nvPr/>
        </p:nvSpPr>
        <p:spPr>
          <a:xfrm xmlns:a="http://schemas.openxmlformats.org/drawingml/2006/main">
            <a:off x="685800" y="71437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8400" b="1">
                <a:solidFill>
                  <a:srgbClr val="17211F"/>
                </a:solidFill>
                <a:latin typeface="Arial"/>
                <a:ea typeface="Arial"/>
                <a:cs typeface="Arial"/>
              </a:defRPr>
            </a:pPr>
            <a:r>
              <a:rPr sz="8400" b="1">
                <a:solidFill>
                  <a:srgbClr val="17211F"/>
                </a:solidFill>
                <a:latin typeface="Arial"/>
                <a:ea typeface="Arial"/>
                <a:cs typeface="Arial"/>
              </a:rPr>
              <a:t>Food Arena</a:t>
            </a:r>
          </a:p>
        </p:txBody>
      </p:sp>
      <p:sp>
        <p:nvSpPr>
          <p:cNvPr id="2" name="cover-title">
            <a:extLst xmlns:a="http://schemas.openxmlformats.org/drawingml/2006/main">
              <a:ext uri="{FF2B5EF4-FFF2-40B4-BE49-F238E27FC236}">
                <a16:creationId xmlns:a16="http://schemas.microsoft.com/office/drawing/2014/main" id="{417DB632-8CE3-46D2-8687-89B57C9F0488}"/>
              </a:ext>
            </a:extLst>
          </p:cNvPr>
          <p:cNvSpPr>
            <a:spLocks xmlns:a="http://schemas.openxmlformats.org/drawingml/2006/main" noGrp="1"/>
          </p:cNvSpPr>
          <p:nvPr/>
        </p:nvSpPr>
        <p:spPr>
          <a:xfrm xmlns:a="http://schemas.openxmlformats.org/drawingml/2006/main">
            <a:off x="723900" y="2447925"/>
            <a:ext cx="7810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4425" b="1">
                <a:solidFill>
                  <a:srgbClr val="17211F"/>
                </a:solidFill>
                <a:latin typeface="Arial"/>
                <a:ea typeface="Arial"/>
                <a:cs typeface="Arial"/>
              </a:defRPr>
            </a:pPr>
            <a:r>
              <a:rPr sz="4425" b="1">
                <a:solidFill>
                  <a:srgbClr val="17211F"/>
                </a:solidFill>
                <a:latin typeface="Arial"/>
                <a:ea typeface="Arial"/>
                <a:cs typeface="Arial"/>
              </a:rPr>
              <a:t>Anna cerca pranzo.</a:t>
            </a:r>
          </a:p>
          <a:p xmlns:a="http://schemas.openxmlformats.org/drawingml/2006/main">
            <a:pPr>
              <a:buNone/>
              <a:defRPr sz="4425" b="1">
                <a:solidFill>
                  <a:srgbClr val="17211F"/>
                </a:solidFill>
                <a:latin typeface="Arial"/>
                <a:ea typeface="Arial"/>
                <a:cs typeface="Arial"/>
              </a:defRPr>
            </a:pPr>
            <a:r>
              <a:rPr sz="4425" b="1">
                <a:solidFill>
                  <a:srgbClr val="17211F"/>
                </a:solidFill>
                <a:latin typeface="Arial"/>
                <a:ea typeface="Arial"/>
                <a:cs typeface="Arial"/>
              </a:rPr>
              <a:t>I locali si propongono.</a:t>
            </a:r>
          </a:p>
        </p:txBody>
      </p:sp>
      <p:sp>
        <p:nvSpPr>
          <p:cNvPr id="3" name="budget">
            <a:extLst xmlns:a="http://schemas.openxmlformats.org/drawingml/2006/main">
              <a:ext uri="{FF2B5EF4-FFF2-40B4-BE49-F238E27FC236}">
                <a16:creationId xmlns:a16="http://schemas.microsoft.com/office/drawing/2014/main" id="{248AB37D-1215-4976-966B-47C5BB523C7A}"/>
              </a:ext>
            </a:extLst>
          </p:cNvPr>
          <p:cNvSpPr>
            <a:spLocks xmlns:a="http://schemas.openxmlformats.org/drawingml/2006/main" noGrp="1"/>
          </p:cNvSpPr>
          <p:nvPr/>
        </p:nvSpPr>
        <p:spPr>
          <a:xfrm xmlns:a="http://schemas.openxmlformats.org/drawingml/2006/main">
            <a:off x="8743950" y="2647950"/>
            <a:ext cx="2762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7350" b="1">
                <a:solidFill>
                  <a:srgbClr val="DE4528"/>
                </a:solidFill>
                <a:latin typeface="Arial"/>
                <a:ea typeface="Arial"/>
                <a:cs typeface="Arial"/>
              </a:defRPr>
            </a:pPr>
            <a:r>
              <a:rPr sz="7350" b="1">
                <a:solidFill>
                  <a:srgbClr val="DE4528"/>
                </a:solidFill>
                <a:latin typeface="Arial"/>
                <a:ea typeface="Arial"/>
                <a:cs typeface="Arial"/>
              </a:rPr>
              <a:t>10 €</a:t>
            </a:r>
          </a:p>
        </p:txBody>
      </p:sp>
      <p:sp>
        <p:nvSpPr>
          <p:cNvPr id="4" name="scenario">
            <a:extLst xmlns:a="http://schemas.openxmlformats.org/drawingml/2006/main">
              <a:ext uri="{FF2B5EF4-FFF2-40B4-BE49-F238E27FC236}">
                <a16:creationId xmlns:a16="http://schemas.microsoft.com/office/drawing/2014/main" id="{2223FAC7-977B-43A3-AEF5-431D15519797}"/>
              </a:ext>
            </a:extLst>
          </p:cNvPr>
          <p:cNvSpPr>
            <a:spLocks xmlns:a="http://schemas.openxmlformats.org/drawingml/2006/main" noGrp="1"/>
          </p:cNvSpPr>
          <p:nvPr/>
        </p:nvSpPr>
        <p:spPr>
          <a:xfrm xmlns:a="http://schemas.openxmlformats.org/drawingml/2006/main">
            <a:off x="742950" y="4581525"/>
            <a:ext cx="7620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325" b="0">
                <a:solidFill>
                  <a:srgbClr val="5F6861"/>
                </a:solidFill>
                <a:latin typeface="Arial"/>
                <a:ea typeface="Arial"/>
                <a:cs typeface="Arial"/>
              </a:defRPr>
            </a:pPr>
            <a:r>
              <a:rPr sz="2325" b="0">
                <a:solidFill>
                  <a:srgbClr val="5F6861"/>
                </a:solidFill>
                <a:latin typeface="Arial"/>
                <a:ea typeface="Arial"/>
                <a:cs typeface="Arial"/>
              </a:rPr>
              <a:t>Viale Pindaro, Pescara</a:t>
            </a:r>
          </a:p>
          <a:p xmlns:a="http://schemas.openxmlformats.org/drawingml/2006/main">
            <a:pPr>
              <a:buNone/>
              <a:defRPr sz="2325" b="0">
                <a:solidFill>
                  <a:srgbClr val="5F6861"/>
                </a:solidFill>
                <a:latin typeface="Arial"/>
                <a:ea typeface="Arial"/>
                <a:cs typeface="Arial"/>
              </a:defRPr>
            </a:pPr>
            <a:r>
              <a:rPr sz="2325" b="0">
                <a:solidFill>
                  <a:srgbClr val="5F6861"/>
                </a:solidFill>
                <a:latin typeface="Arial"/>
                <a:ea typeface="Arial"/>
                <a:cs typeface="Arial"/>
              </a:rPr>
              <a:t>Ritiro entro 30 minuti</a:t>
            </a:r>
          </a:p>
        </p:txBody>
      </p:sp>
      <p:sp>
        <p:nvSpPr>
          <p:cNvPr id="5" name="event">
            <a:extLst xmlns:a="http://schemas.openxmlformats.org/drawingml/2006/main">
              <a:ext uri="{FF2B5EF4-FFF2-40B4-BE49-F238E27FC236}">
                <a16:creationId xmlns:a16="http://schemas.microsoft.com/office/drawing/2014/main" id="{A8129632-FFE3-4CFC-9E8D-5B486B283939}"/>
              </a:ext>
            </a:extLst>
          </p:cNvPr>
          <p:cNvSpPr>
            <a:spLocks xmlns:a="http://schemas.openxmlformats.org/drawingml/2006/main" noGrp="1"/>
          </p:cNvSpPr>
          <p:nvPr/>
        </p:nvSpPr>
        <p:spPr>
          <a:xfrm xmlns:a="http://schemas.openxmlformats.org/drawingml/2006/main">
            <a:off x="8915400" y="4657725"/>
            <a:ext cx="2714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00" b="0">
                <a:solidFill>
                  <a:srgbClr val="17211F"/>
                </a:solidFill>
                <a:latin typeface="Arial"/>
                <a:ea typeface="Arial"/>
                <a:cs typeface="Arial"/>
              </a:defRPr>
            </a:pPr>
            <a:r>
              <a:rPr sz="1800" b="0">
                <a:solidFill>
                  <a:srgbClr val="17211F"/>
                </a:solidFill>
                <a:latin typeface="Arial"/>
                <a:ea typeface="Arial"/>
                <a:cs typeface="Arial"/>
              </a:rPr>
              <a:t>Team1 Hackathon</a:t>
            </a:r>
          </a:p>
          <a:p xmlns:a="http://schemas.openxmlformats.org/drawingml/2006/main">
            <a:pPr>
              <a:buNone/>
              <a:defRPr sz="1800" b="0">
                <a:solidFill>
                  <a:srgbClr val="17211F"/>
                </a:solidFill>
                <a:latin typeface="Arial"/>
                <a:ea typeface="Arial"/>
                <a:cs typeface="Arial"/>
              </a:defRPr>
            </a:pPr>
            <a:r>
              <a:rPr sz="1800" b="0">
                <a:solidFill>
                  <a:srgbClr val="17211F"/>
                </a:solidFill>
                <a:latin typeface="Arial"/>
                <a:ea typeface="Arial"/>
                <a:cs typeface="Arial"/>
              </a:rPr>
              <a:t>19 settembre 2026</a:t>
            </a:r>
          </a:p>
        </p:txBody>
      </p:sp>
      <p:sp>
        <p:nvSpPr>
          <p:cNvPr id="6" name="footer-app">
            <a:extLst xmlns:a="http://schemas.openxmlformats.org/drawingml/2006/main">
              <a:ext uri="{FF2B5EF4-FFF2-40B4-BE49-F238E27FC236}">
                <a16:creationId xmlns:a16="http://schemas.microsoft.com/office/drawing/2014/main" id="{28EAFBF4-3B97-49DF-AC4E-5CE014C515E9}"/>
              </a:ext>
            </a:extLst>
          </p:cNvPr>
          <p:cNvSpPr>
            <a:spLocks xmlns:a="http://schemas.openxmlformats.org/drawingml/2006/main" noGrp="1"/>
          </p:cNvSpPr>
          <p:nvPr/>
        </p:nvSpPr>
        <p:spPr>
          <a:xfrm xmlns:a="http://schemas.openxmlformats.org/drawingml/2006/main">
            <a:off x="68580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bb0c89b2ba994a11"/>
              </a:rPr>
              <a:t>Apri Food Arena</a:t>
            </a:r>
          </a:p>
        </p:txBody>
      </p:sp>
      <p:sp>
        <p:nvSpPr>
          <p:cNvPr id="7" name="footer-repo">
            <a:extLst xmlns:a="http://schemas.openxmlformats.org/drawingml/2006/main">
              <a:ext uri="{FF2B5EF4-FFF2-40B4-BE49-F238E27FC236}">
                <a16:creationId xmlns:a16="http://schemas.microsoft.com/office/drawing/2014/main" id="{DEA31F99-2FED-4AAD-8B39-5F37B5743EA8}"/>
              </a:ext>
            </a:extLst>
          </p:cNvPr>
          <p:cNvSpPr>
            <a:spLocks xmlns:a="http://schemas.openxmlformats.org/drawingml/2006/main" noGrp="1"/>
          </p:cNvSpPr>
          <p:nvPr/>
        </p:nvSpPr>
        <p:spPr>
          <a:xfrm xmlns:a="http://schemas.openxmlformats.org/drawingml/2006/main">
            <a:off x="310515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d65919aa7b8f4cc9"/>
              </a:rPr>
              <a:t>Codice GitHub</a:t>
            </a:r>
          </a:p>
        </p:txBody>
      </p:sp>
      <p:sp>
        <p:nvSpPr>
          <p:cNvPr id="8" name="footer-proof">
            <a:extLst xmlns:a="http://schemas.openxmlformats.org/drawingml/2006/main">
              <a:ext uri="{FF2B5EF4-FFF2-40B4-BE49-F238E27FC236}">
                <a16:creationId xmlns:a16="http://schemas.microsoft.com/office/drawing/2014/main" id="{33D710EE-2D76-4218-A9C2-510F6D48266B}"/>
              </a:ext>
            </a:extLst>
          </p:cNvPr>
          <p:cNvSpPr>
            <a:spLocks xmlns:a="http://schemas.openxmlformats.org/drawingml/2006/main" noGrp="1"/>
          </p:cNvSpPr>
          <p:nvPr/>
        </p:nvSpPr>
        <p:spPr>
          <a:xfrm xmlns:a="http://schemas.openxmlformats.org/drawingml/2006/main">
            <a:off x="5429250" y="64008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89661d206dc9479e"/>
              </a:rPr>
              <a:t>Prove Avalanche</a:t>
            </a:r>
          </a:p>
        </p:txBody>
      </p:sp>
      <p:sp>
        <p:nvSpPr>
          <p:cNvPr id="9" name="footer-page">
            <a:extLst xmlns:a="http://schemas.openxmlformats.org/drawingml/2006/main">
              <a:ext uri="{FF2B5EF4-FFF2-40B4-BE49-F238E27FC236}">
                <a16:creationId xmlns:a16="http://schemas.microsoft.com/office/drawing/2014/main" id="{C54D7DD4-E886-41F2-A06B-10AB1E5E653C}"/>
              </a:ext>
            </a:extLst>
          </p:cNvPr>
          <p:cNvSpPr>
            <a:spLocks xmlns:a="http://schemas.openxmlformats.org/drawingml/2006/main" noGrp="1"/>
          </p:cNvSpPr>
          <p:nvPr/>
        </p:nvSpPr>
        <p:spPr>
          <a:xfrm xmlns:a="http://schemas.openxmlformats.org/drawingml/2006/main">
            <a:off x="10953750" y="64008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rPr>
              <a:t>1 / 8</a:t>
            </a:r>
          </a:p>
        </p:txBody>
      </p:sp>
    </p:spTree>
    <p:extLst>
      <p:ext uri="{BB962C8B-B14F-4D97-AF65-F5344CB8AC3E}">
        <p14:creationId xmlns:p14="http://schemas.microsoft.com/office/powerpoint/2010/main" val="655565782"/>
      </p:ext>
    </p:extLst>
  </p:cSld>
</p:sld>
</file>

<file path=ppt/slides/slide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7" name="title">
            <a:extLst xmlns:a="http://schemas.openxmlformats.org/drawingml/2006/main">
              <a:ext uri="{FF2B5EF4-FFF2-40B4-BE49-F238E27FC236}">
                <a16:creationId xmlns:a16="http://schemas.microsoft.com/office/drawing/2014/main" id="{D1E8A077-607B-468C-AD16-007A199B159A}"/>
              </a:ext>
            </a:extLst>
          </p:cNvPr>
          <p:cNvSpPr>
            <a:spLocks xmlns:a="http://schemas.openxmlformats.org/drawingml/2006/main" noGrp="1"/>
          </p:cNvSpPr>
          <p:nvPr/>
        </p:nvSpPr>
        <p:spPr>
          <a:xfrm xmlns:a="http://schemas.openxmlformats.org/drawingml/2006/main">
            <a:off x="685800" y="6096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900" b="1">
                <a:solidFill>
                  <a:srgbClr val="17211F"/>
                </a:solidFill>
                <a:latin typeface="Arial"/>
                <a:ea typeface="Arial"/>
                <a:cs typeface="Arial"/>
              </a:defRPr>
            </a:pPr>
            <a:r>
              <a:rPr sz="3900" b="1">
                <a:solidFill>
                  <a:srgbClr val="17211F"/>
                </a:solidFill>
                <a:latin typeface="Arial"/>
                <a:ea typeface="Arial"/>
                <a:cs typeface="Arial"/>
              </a:rPr>
              <a:t>Le offerte arrivano. Anna sceglie</a:t>
            </a:r>
          </a:p>
        </p:txBody>
      </p:sp>
      <p:sp>
        <p:nvSpPr>
          <p:cNvPr id="2" name="disclosure">
            <a:extLst xmlns:a="http://schemas.openxmlformats.org/drawingml/2006/main">
              <a:ext uri="{FF2B5EF4-FFF2-40B4-BE49-F238E27FC236}">
                <a16:creationId xmlns:a16="http://schemas.microsoft.com/office/drawing/2014/main" id="{174DD932-B3CE-4982-AF3D-9DB1B5D00423}"/>
              </a:ext>
            </a:extLst>
          </p:cNvPr>
          <p:cNvSpPr>
            <a:spLocks xmlns:a="http://schemas.openxmlformats.org/drawingml/2006/main" noGrp="1"/>
          </p:cNvSpPr>
          <p:nvPr/>
        </p:nvSpPr>
        <p:spPr>
          <a:xfrm xmlns:a="http://schemas.openxmlformats.org/drawingml/2006/main">
            <a:off x="723900" y="162877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1">
                <a:solidFill>
                  <a:srgbClr val="DE4528"/>
                </a:solidFill>
                <a:latin typeface="Arial"/>
                <a:ea typeface="Arial"/>
                <a:cs typeface="Arial"/>
              </a:defRPr>
            </a:pPr>
            <a:r>
              <a:rPr sz="2175" b="1">
                <a:solidFill>
                  <a:srgbClr val="DE4528"/>
                </a:solidFill>
                <a:latin typeface="Arial"/>
                <a:ea typeface="Arial"/>
                <a:cs typeface="Arial"/>
              </a:rPr>
              <a:t>Tutti i locali aderenti compatibili possono proporre.</a:t>
            </a:r>
          </a:p>
        </p:txBody>
      </p:sp>
      <p:sp>
        <p:nvSpPr>
          <p:cNvPr id="3" name="venue-0">
            <a:extLst xmlns:a="http://schemas.openxmlformats.org/drawingml/2006/main">
              <a:ext uri="{FF2B5EF4-FFF2-40B4-BE49-F238E27FC236}">
                <a16:creationId xmlns:a16="http://schemas.microsoft.com/office/drawing/2014/main" id="{05339681-5092-496B-8BA9-EECE478E0B2A}"/>
              </a:ext>
            </a:extLst>
          </p:cNvPr>
          <p:cNvSpPr>
            <a:spLocks xmlns:a="http://schemas.openxmlformats.org/drawingml/2006/main" noGrp="1"/>
          </p:cNvSpPr>
          <p:nvPr/>
        </p:nvSpPr>
        <p:spPr>
          <a:xfrm xmlns:a="http://schemas.openxmlformats.org/drawingml/2006/main">
            <a:off x="723900" y="2609850"/>
            <a:ext cx="1762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400" b="1">
                <a:solidFill>
                  <a:srgbClr val="17211F"/>
                </a:solidFill>
                <a:latin typeface="Arial"/>
                <a:ea typeface="Arial"/>
                <a:cs typeface="Arial"/>
              </a:defRPr>
            </a:pPr>
            <a:r>
              <a:rPr sz="2400" b="1">
                <a:solidFill>
                  <a:srgbClr val="17211F"/>
                </a:solidFill>
                <a:latin typeface="Arial"/>
                <a:ea typeface="Arial"/>
                <a:cs typeface="Arial"/>
              </a:rPr>
              <a:t>Forno</a:t>
            </a:r>
          </a:p>
        </p:txBody>
      </p:sp>
      <p:sp>
        <p:nvSpPr>
          <p:cNvPr id="4" name="menu-0">
            <a:extLst xmlns:a="http://schemas.openxmlformats.org/drawingml/2006/main">
              <a:ext uri="{FF2B5EF4-FFF2-40B4-BE49-F238E27FC236}">
                <a16:creationId xmlns:a16="http://schemas.microsoft.com/office/drawing/2014/main" id="{4E7C0BBC-B03A-42B6-A47E-ED3581694888}"/>
              </a:ext>
            </a:extLst>
          </p:cNvPr>
          <p:cNvSpPr>
            <a:spLocks xmlns:a="http://schemas.openxmlformats.org/drawingml/2006/main" noGrp="1"/>
          </p:cNvSpPr>
          <p:nvPr/>
        </p:nvSpPr>
        <p:spPr>
          <a:xfrm xmlns:a="http://schemas.openxmlformats.org/drawingml/2006/main">
            <a:off x="2667000" y="2609850"/>
            <a:ext cx="681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325" b="0">
                <a:solidFill>
                  <a:srgbClr val="17211F"/>
                </a:solidFill>
                <a:latin typeface="Arial"/>
                <a:ea typeface="Arial"/>
                <a:cs typeface="Arial"/>
              </a:defRPr>
            </a:pPr>
            <a:r>
              <a:rPr sz="2325" b="0">
                <a:solidFill>
                  <a:srgbClr val="17211F"/>
                </a:solidFill>
                <a:latin typeface="Arial"/>
                <a:ea typeface="Arial"/>
                <a:cs typeface="Arial"/>
              </a:rPr>
              <a:t>Focaccia caprese e acqua</a:t>
            </a:r>
          </a:p>
        </p:txBody>
      </p:sp>
      <p:sp>
        <p:nvSpPr>
          <p:cNvPr id="5" name="price-0">
            <a:extLst xmlns:a="http://schemas.openxmlformats.org/drawingml/2006/main">
              <a:ext uri="{FF2B5EF4-FFF2-40B4-BE49-F238E27FC236}">
                <a16:creationId xmlns:a16="http://schemas.microsoft.com/office/drawing/2014/main" id="{FE176BA8-B6BD-4C4E-B1BD-D7EC0F1F60D2}"/>
              </a:ext>
            </a:extLst>
          </p:cNvPr>
          <p:cNvSpPr>
            <a:spLocks xmlns:a="http://schemas.openxmlformats.org/drawingml/2006/main" noGrp="1"/>
          </p:cNvSpPr>
          <p:nvPr/>
        </p:nvSpPr>
        <p:spPr>
          <a:xfrm xmlns:a="http://schemas.openxmlformats.org/drawingml/2006/main">
            <a:off x="9525000" y="2571750"/>
            <a:ext cx="2114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925" b="1">
                <a:solidFill>
                  <a:srgbClr val="DE4528"/>
                </a:solidFill>
                <a:latin typeface="Arial"/>
                <a:ea typeface="Arial"/>
                <a:cs typeface="Arial"/>
              </a:defRPr>
            </a:pPr>
            <a:r>
              <a:rPr sz="2925" b="1">
                <a:solidFill>
                  <a:srgbClr val="DE4528"/>
                </a:solidFill>
                <a:latin typeface="Arial"/>
                <a:ea typeface="Arial"/>
                <a:cs typeface="Arial"/>
              </a:rPr>
              <a:t>7,90 €</a:t>
            </a:r>
          </a:p>
        </p:txBody>
      </p:sp>
      <p:sp>
        <p:nvSpPr>
          <p:cNvPr id="6" name="venue-1">
            <a:extLst xmlns:a="http://schemas.openxmlformats.org/drawingml/2006/main">
              <a:ext uri="{FF2B5EF4-FFF2-40B4-BE49-F238E27FC236}">
                <a16:creationId xmlns:a16="http://schemas.microsoft.com/office/drawing/2014/main" id="{10F98837-74E9-4327-B36B-5A73832E5D58}"/>
              </a:ext>
            </a:extLst>
          </p:cNvPr>
          <p:cNvSpPr>
            <a:spLocks xmlns:a="http://schemas.openxmlformats.org/drawingml/2006/main" noGrp="1"/>
          </p:cNvSpPr>
          <p:nvPr/>
        </p:nvSpPr>
        <p:spPr>
          <a:xfrm xmlns:a="http://schemas.openxmlformats.org/drawingml/2006/main">
            <a:off x="723900" y="3438525"/>
            <a:ext cx="1762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400" b="1">
                <a:solidFill>
                  <a:srgbClr val="17211F"/>
                </a:solidFill>
                <a:latin typeface="Arial"/>
                <a:ea typeface="Arial"/>
                <a:cs typeface="Arial"/>
              </a:defRPr>
            </a:pPr>
            <a:r>
              <a:rPr sz="2400" b="1">
                <a:solidFill>
                  <a:srgbClr val="17211F"/>
                </a:solidFill>
                <a:latin typeface="Arial"/>
                <a:ea typeface="Arial"/>
                <a:cs typeface="Arial"/>
              </a:rPr>
              <a:t>Verde</a:t>
            </a:r>
          </a:p>
        </p:txBody>
      </p:sp>
      <p:sp>
        <p:nvSpPr>
          <p:cNvPr id="7" name="menu-1">
            <a:extLst xmlns:a="http://schemas.openxmlformats.org/drawingml/2006/main">
              <a:ext uri="{FF2B5EF4-FFF2-40B4-BE49-F238E27FC236}">
                <a16:creationId xmlns:a16="http://schemas.microsoft.com/office/drawing/2014/main" id="{01D3F986-D87C-4989-83FB-A28ADFEEA2BE}"/>
              </a:ext>
            </a:extLst>
          </p:cNvPr>
          <p:cNvSpPr>
            <a:spLocks xmlns:a="http://schemas.openxmlformats.org/drawingml/2006/main" noGrp="1"/>
          </p:cNvSpPr>
          <p:nvPr/>
        </p:nvSpPr>
        <p:spPr>
          <a:xfrm xmlns:a="http://schemas.openxmlformats.org/drawingml/2006/main">
            <a:off x="2667000" y="3438525"/>
            <a:ext cx="681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325" b="0">
                <a:solidFill>
                  <a:srgbClr val="17211F"/>
                </a:solidFill>
                <a:latin typeface="Arial"/>
                <a:ea typeface="Arial"/>
                <a:cs typeface="Arial"/>
              </a:defRPr>
            </a:pPr>
            <a:r>
              <a:rPr sz="2325" b="0">
                <a:solidFill>
                  <a:srgbClr val="17211F"/>
                </a:solidFill>
                <a:latin typeface="Arial"/>
                <a:ea typeface="Arial"/>
                <a:cs typeface="Arial"/>
              </a:rPr>
              <a:t>Cous cous, verdure e acqua</a:t>
            </a:r>
          </a:p>
        </p:txBody>
      </p:sp>
      <p:sp>
        <p:nvSpPr>
          <p:cNvPr id="8" name="price-1">
            <a:extLst xmlns:a="http://schemas.openxmlformats.org/drawingml/2006/main">
              <a:ext uri="{FF2B5EF4-FFF2-40B4-BE49-F238E27FC236}">
                <a16:creationId xmlns:a16="http://schemas.microsoft.com/office/drawing/2014/main" id="{C454C1F3-3359-4C85-809F-F057CD060484}"/>
              </a:ext>
            </a:extLst>
          </p:cNvPr>
          <p:cNvSpPr>
            <a:spLocks xmlns:a="http://schemas.openxmlformats.org/drawingml/2006/main" noGrp="1"/>
          </p:cNvSpPr>
          <p:nvPr/>
        </p:nvSpPr>
        <p:spPr>
          <a:xfrm xmlns:a="http://schemas.openxmlformats.org/drawingml/2006/main">
            <a:off x="9525000" y="3400425"/>
            <a:ext cx="2114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925" b="1">
                <a:solidFill>
                  <a:srgbClr val="DE4528"/>
                </a:solidFill>
                <a:latin typeface="Arial"/>
                <a:ea typeface="Arial"/>
                <a:cs typeface="Arial"/>
              </a:defRPr>
            </a:pPr>
            <a:r>
              <a:rPr sz="2925" b="1">
                <a:solidFill>
                  <a:srgbClr val="DE4528"/>
                </a:solidFill>
                <a:latin typeface="Arial"/>
                <a:ea typeface="Arial"/>
                <a:cs typeface="Arial"/>
              </a:rPr>
              <a:t>8,50 €</a:t>
            </a:r>
          </a:p>
        </p:txBody>
      </p:sp>
      <p:sp>
        <p:nvSpPr>
          <p:cNvPr id="9" name="venue-2">
            <a:extLst xmlns:a="http://schemas.openxmlformats.org/drawingml/2006/main">
              <a:ext uri="{FF2B5EF4-FFF2-40B4-BE49-F238E27FC236}">
                <a16:creationId xmlns:a16="http://schemas.microsoft.com/office/drawing/2014/main" id="{4051DDAF-6C7B-4C6A-AC8E-0DB07CC99092}"/>
              </a:ext>
            </a:extLst>
          </p:cNvPr>
          <p:cNvSpPr>
            <a:spLocks xmlns:a="http://schemas.openxmlformats.org/drawingml/2006/main" noGrp="1"/>
          </p:cNvSpPr>
          <p:nvPr/>
        </p:nvSpPr>
        <p:spPr>
          <a:xfrm xmlns:a="http://schemas.openxmlformats.org/drawingml/2006/main">
            <a:off x="723900" y="4267200"/>
            <a:ext cx="1762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400" b="1">
                <a:solidFill>
                  <a:srgbClr val="17211F"/>
                </a:solidFill>
                <a:latin typeface="Arial"/>
                <a:ea typeface="Arial"/>
                <a:cs typeface="Arial"/>
              </a:defRPr>
            </a:pPr>
            <a:r>
              <a:rPr sz="2400" b="1">
                <a:solidFill>
                  <a:srgbClr val="17211F"/>
                </a:solidFill>
                <a:latin typeface="Arial"/>
                <a:ea typeface="Arial"/>
                <a:cs typeface="Arial"/>
              </a:rPr>
              <a:t>Bowl</a:t>
            </a:r>
          </a:p>
        </p:txBody>
      </p:sp>
      <p:sp>
        <p:nvSpPr>
          <p:cNvPr id="10" name="menu-2">
            <a:extLst xmlns:a="http://schemas.openxmlformats.org/drawingml/2006/main">
              <a:ext uri="{FF2B5EF4-FFF2-40B4-BE49-F238E27FC236}">
                <a16:creationId xmlns:a16="http://schemas.microsoft.com/office/drawing/2014/main" id="{2C5FBE2C-FE28-4A7C-ABCD-858FA5E6CED5}"/>
              </a:ext>
            </a:extLst>
          </p:cNvPr>
          <p:cNvSpPr>
            <a:spLocks xmlns:a="http://schemas.openxmlformats.org/drawingml/2006/main" noGrp="1"/>
          </p:cNvSpPr>
          <p:nvPr/>
        </p:nvSpPr>
        <p:spPr>
          <a:xfrm xmlns:a="http://schemas.openxmlformats.org/drawingml/2006/main">
            <a:off x="2667000" y="4267200"/>
            <a:ext cx="6810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325" b="0">
                <a:solidFill>
                  <a:srgbClr val="17211F"/>
                </a:solidFill>
                <a:latin typeface="Arial"/>
                <a:ea typeface="Arial"/>
                <a:cs typeface="Arial"/>
              </a:defRPr>
            </a:pPr>
            <a:r>
              <a:rPr sz="2325" b="0">
                <a:solidFill>
                  <a:srgbClr val="17211F"/>
                </a:solidFill>
                <a:latin typeface="Arial"/>
                <a:ea typeface="Arial"/>
                <a:cs typeface="Arial"/>
              </a:rPr>
              <a:t>Bowl di pollo e acqua</a:t>
            </a:r>
          </a:p>
        </p:txBody>
      </p:sp>
      <p:sp>
        <p:nvSpPr>
          <p:cNvPr id="11" name="price-2">
            <a:extLst xmlns:a="http://schemas.openxmlformats.org/drawingml/2006/main">
              <a:ext uri="{FF2B5EF4-FFF2-40B4-BE49-F238E27FC236}">
                <a16:creationId xmlns:a16="http://schemas.microsoft.com/office/drawing/2014/main" id="{BFB3E52B-C46C-4F02-B81E-603C8DE48ED1}"/>
              </a:ext>
            </a:extLst>
          </p:cNvPr>
          <p:cNvSpPr>
            <a:spLocks xmlns:a="http://schemas.openxmlformats.org/drawingml/2006/main" noGrp="1"/>
          </p:cNvSpPr>
          <p:nvPr/>
        </p:nvSpPr>
        <p:spPr>
          <a:xfrm xmlns:a="http://schemas.openxmlformats.org/drawingml/2006/main">
            <a:off x="9525000" y="4229100"/>
            <a:ext cx="2114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925" b="1">
                <a:solidFill>
                  <a:srgbClr val="DE4528"/>
                </a:solidFill>
                <a:latin typeface="Arial"/>
                <a:ea typeface="Arial"/>
                <a:cs typeface="Arial"/>
              </a:defRPr>
            </a:pPr>
            <a:r>
              <a:rPr sz="2925" b="1">
                <a:solidFill>
                  <a:srgbClr val="DE4528"/>
                </a:solidFill>
                <a:latin typeface="Arial"/>
                <a:ea typeface="Arial"/>
                <a:cs typeface="Arial"/>
              </a:rPr>
              <a:t>9,90 €</a:t>
            </a:r>
          </a:p>
        </p:txBody>
      </p:sp>
      <p:sp>
        <p:nvSpPr>
          <p:cNvPr id="12" name="choice">
            <a:extLst xmlns:a="http://schemas.openxmlformats.org/drawingml/2006/main">
              <a:ext uri="{FF2B5EF4-FFF2-40B4-BE49-F238E27FC236}">
                <a16:creationId xmlns:a16="http://schemas.microsoft.com/office/drawing/2014/main" id="{DE5DBB98-3560-49D3-AA4D-1661D7001C89}"/>
              </a:ext>
            </a:extLst>
          </p:cNvPr>
          <p:cNvSpPr>
            <a:spLocks xmlns:a="http://schemas.openxmlformats.org/drawingml/2006/main" noGrp="1"/>
          </p:cNvSpPr>
          <p:nvPr/>
        </p:nvSpPr>
        <p:spPr>
          <a:xfrm xmlns:a="http://schemas.openxmlformats.org/drawingml/2006/main">
            <a:off x="723900" y="5400675"/>
            <a:ext cx="107156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00" b="1">
                <a:solidFill>
                  <a:srgbClr val="17211F"/>
                </a:solidFill>
                <a:latin typeface="Arial"/>
                <a:ea typeface="Arial"/>
                <a:cs typeface="Arial"/>
              </a:defRPr>
            </a:pPr>
            <a:r>
              <a:rPr sz="2100" b="1">
                <a:solidFill>
                  <a:srgbClr val="17211F"/>
                </a:solidFill>
                <a:latin typeface="Arial"/>
                <a:ea typeface="Arial"/>
                <a:cs typeface="Arial"/>
              </a:rPr>
              <a:t>La richiesta resta aperta fino alla scelta o alla scadenza.</a:t>
            </a:r>
          </a:p>
        </p:txBody>
      </p:sp>
      <p:sp>
        <p:nvSpPr>
          <p:cNvPr id="13" name="footer-app">
            <a:extLst xmlns:a="http://schemas.openxmlformats.org/drawingml/2006/main">
              <a:ext uri="{FF2B5EF4-FFF2-40B4-BE49-F238E27FC236}">
                <a16:creationId xmlns:a16="http://schemas.microsoft.com/office/drawing/2014/main" id="{51B0933E-3051-4ED1-815B-293B2CF6FE2B}"/>
              </a:ext>
            </a:extLst>
          </p:cNvPr>
          <p:cNvSpPr>
            <a:spLocks xmlns:a="http://schemas.openxmlformats.org/drawingml/2006/main" noGrp="1"/>
          </p:cNvSpPr>
          <p:nvPr/>
        </p:nvSpPr>
        <p:spPr>
          <a:xfrm xmlns:a="http://schemas.openxmlformats.org/drawingml/2006/main">
            <a:off x="68580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50a5d7c6c8624e60"/>
              </a:rPr>
              <a:t>Apri Food Arena</a:t>
            </a:r>
          </a:p>
        </p:txBody>
      </p:sp>
      <p:sp>
        <p:nvSpPr>
          <p:cNvPr id="14" name="footer-repo">
            <a:extLst xmlns:a="http://schemas.openxmlformats.org/drawingml/2006/main">
              <a:ext uri="{FF2B5EF4-FFF2-40B4-BE49-F238E27FC236}">
                <a16:creationId xmlns:a16="http://schemas.microsoft.com/office/drawing/2014/main" id="{11EBD34E-F742-4EED-B0B7-61DA43FE5122}"/>
              </a:ext>
            </a:extLst>
          </p:cNvPr>
          <p:cNvSpPr>
            <a:spLocks xmlns:a="http://schemas.openxmlformats.org/drawingml/2006/main" noGrp="1"/>
          </p:cNvSpPr>
          <p:nvPr/>
        </p:nvSpPr>
        <p:spPr>
          <a:xfrm xmlns:a="http://schemas.openxmlformats.org/drawingml/2006/main">
            <a:off x="310515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8729d485df684d5b"/>
              </a:rPr>
              <a:t>Codice GitHub</a:t>
            </a:r>
          </a:p>
        </p:txBody>
      </p:sp>
      <p:sp>
        <p:nvSpPr>
          <p:cNvPr id="15" name="footer-proof">
            <a:extLst xmlns:a="http://schemas.openxmlformats.org/drawingml/2006/main">
              <a:ext uri="{FF2B5EF4-FFF2-40B4-BE49-F238E27FC236}">
                <a16:creationId xmlns:a16="http://schemas.microsoft.com/office/drawing/2014/main" id="{D3D6EBE9-9C47-4C61-A116-F95E2D0319B2}"/>
              </a:ext>
            </a:extLst>
          </p:cNvPr>
          <p:cNvSpPr>
            <a:spLocks xmlns:a="http://schemas.openxmlformats.org/drawingml/2006/main" noGrp="1"/>
          </p:cNvSpPr>
          <p:nvPr/>
        </p:nvSpPr>
        <p:spPr>
          <a:xfrm xmlns:a="http://schemas.openxmlformats.org/drawingml/2006/main">
            <a:off x="5429250" y="64008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adba65b0b968415f"/>
              </a:rPr>
              <a:t>Prove Avalanche</a:t>
            </a:r>
          </a:p>
        </p:txBody>
      </p:sp>
      <p:sp>
        <p:nvSpPr>
          <p:cNvPr id="16" name="footer-page">
            <a:extLst xmlns:a="http://schemas.openxmlformats.org/drawingml/2006/main">
              <a:ext uri="{FF2B5EF4-FFF2-40B4-BE49-F238E27FC236}">
                <a16:creationId xmlns:a16="http://schemas.microsoft.com/office/drawing/2014/main" id="{94675A31-6EFC-43B0-9698-3051E84B0613}"/>
              </a:ext>
            </a:extLst>
          </p:cNvPr>
          <p:cNvSpPr>
            <a:spLocks xmlns:a="http://schemas.openxmlformats.org/drawingml/2006/main" noGrp="1"/>
          </p:cNvSpPr>
          <p:nvPr/>
        </p:nvSpPr>
        <p:spPr>
          <a:xfrm xmlns:a="http://schemas.openxmlformats.org/drawingml/2006/main">
            <a:off x="10953750" y="64008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rPr>
              <a:t>2 / 8</a:t>
            </a:r>
          </a:p>
        </p:txBody>
      </p:sp>
      <p:sp>
        <p:nvSpPr>
          <p:cNvPr id="18" name="example">
            <a:extLst xmlns:a="http://schemas.openxmlformats.org/drawingml/2006/main">
              <a:ext uri="{FF2B5EF4-FFF2-40B4-BE49-F238E27FC236}">
                <a16:creationId xmlns:a16="http://schemas.microsoft.com/office/drawing/2014/main" id="{0C9D7D3A-FF95-4811-9418-7662671D7C4E}"/>
              </a:ext>
            </a:extLst>
          </p:cNvPr>
          <p:cNvSpPr>
            <a:spLocks xmlns:a="http://schemas.openxmlformats.org/drawingml/2006/main" noGrp="1"/>
          </p:cNvSpPr>
          <p:nvPr/>
        </p:nvSpPr>
        <p:spPr>
          <a:xfrm xmlns:a="http://schemas.openxmlformats.org/drawingml/2006/main">
            <a:off x="723900" y="586740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5F6861"/>
                </a:solidFill>
                <a:latin typeface="Arial"/>
                <a:ea typeface="Arial"/>
                <a:cs typeface="Arial"/>
              </a:defRPr>
            </a:pPr>
            <a:r>
              <a:rPr sz="1650" b="0">
                <a:solidFill>
                  <a:srgbClr val="5F6861"/>
                </a:solidFill>
                <a:latin typeface="Arial"/>
                <a:ea typeface="Arial"/>
                <a:cs typeface="Arial"/>
              </a:rPr>
              <a:t>Esempi della demo. Locali, piatti e prezzi sono dimostrativi.</a:t>
            </a:r>
          </a:p>
        </p:txBody>
      </p:sp>
    </p:spTree>
    <p:extLst>
      <p:ext uri="{BB962C8B-B14F-4D97-AF65-F5344CB8AC3E}">
        <p14:creationId xmlns:p14="http://schemas.microsoft.com/office/powerpoint/2010/main" val="865188633"/>
      </p:ext>
    </p:extLst>
  </p:cSld>
</p:sld>
</file>

<file path=ppt/slides/slide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0107EC5C-1AFF-486B-A6B1-F23D581563A5}"/>
              </a:ext>
            </a:extLst>
          </p:cNvPr>
          <p:cNvSpPr>
            <a:spLocks xmlns:a="http://schemas.openxmlformats.org/drawingml/2006/main" noGrp="1"/>
          </p:cNvSpPr>
          <p:nvPr/>
        </p:nvSpPr>
        <p:spPr>
          <a:xfrm xmlns:a="http://schemas.openxmlformats.org/drawingml/2006/main">
            <a:off x="685800" y="6096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4050" b="1">
                <a:solidFill>
                  <a:srgbClr val="17211F"/>
                </a:solidFill>
                <a:latin typeface="Arial"/>
                <a:ea typeface="Arial"/>
                <a:cs typeface="Arial"/>
              </a:defRPr>
            </a:pPr>
            <a:r>
              <a:rPr sz="4050" b="1">
                <a:solidFill>
                  <a:srgbClr val="17211F"/>
                </a:solidFill>
                <a:latin typeface="Arial"/>
                <a:ea typeface="Arial"/>
                <a:cs typeface="Arial"/>
              </a:rPr>
              <a:t>Il gestore decide. L’AI propone</a:t>
            </a:r>
          </a:p>
        </p:txBody>
      </p:sp>
      <p:sp>
        <p:nvSpPr>
          <p:cNvPr id="2" name="merchant-heading">
            <a:extLst xmlns:a="http://schemas.openxmlformats.org/drawingml/2006/main">
              <a:ext uri="{FF2B5EF4-FFF2-40B4-BE49-F238E27FC236}">
                <a16:creationId xmlns:a16="http://schemas.microsoft.com/office/drawing/2014/main" id="{2693B42C-5F91-42C1-9159-D75C09F6D361}"/>
              </a:ext>
            </a:extLst>
          </p:cNvPr>
          <p:cNvSpPr>
            <a:spLocks xmlns:a="http://schemas.openxmlformats.org/drawingml/2006/main" noGrp="1"/>
          </p:cNvSpPr>
          <p:nvPr/>
        </p:nvSpPr>
        <p:spPr>
          <a:xfrm xmlns:a="http://schemas.openxmlformats.org/drawingml/2006/main">
            <a:off x="723900" y="2114550"/>
            <a:ext cx="5381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700" b="1">
                <a:solidFill>
                  <a:srgbClr val="DE4528"/>
                </a:solidFill>
                <a:latin typeface="Arial"/>
                <a:ea typeface="Arial"/>
                <a:cs typeface="Arial"/>
              </a:defRPr>
            </a:pPr>
            <a:r>
              <a:rPr sz="2700" b="1">
                <a:solidFill>
                  <a:srgbClr val="DE4528"/>
                </a:solidFill>
                <a:latin typeface="Arial"/>
                <a:ea typeface="Arial"/>
                <a:cs typeface="Arial"/>
              </a:rPr>
              <a:t>Luca, il gestore</a:t>
            </a:r>
          </a:p>
        </p:txBody>
      </p:sp>
      <p:sp>
        <p:nvSpPr>
          <p:cNvPr id="3" name="merchant-body">
            <a:extLst xmlns:a="http://schemas.openxmlformats.org/drawingml/2006/main">
              <a:ext uri="{FF2B5EF4-FFF2-40B4-BE49-F238E27FC236}">
                <a16:creationId xmlns:a16="http://schemas.microsoft.com/office/drawing/2014/main" id="{66FC7C78-C156-458E-8793-9D1DF5229D8A}"/>
              </a:ext>
            </a:extLst>
          </p:cNvPr>
          <p:cNvSpPr>
            <a:spLocks xmlns:a="http://schemas.openxmlformats.org/drawingml/2006/main" noGrp="1"/>
          </p:cNvSpPr>
          <p:nvPr/>
        </p:nvSpPr>
        <p:spPr>
          <a:xfrm xmlns:a="http://schemas.openxmlformats.org/drawingml/2006/main">
            <a:off x="723900" y="2933700"/>
            <a:ext cx="581025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475" b="0">
                <a:solidFill>
                  <a:srgbClr val="17211F"/>
                </a:solidFill>
                <a:latin typeface="Arial"/>
                <a:ea typeface="Arial"/>
                <a:cs typeface="Arial"/>
              </a:defRPr>
            </a:pPr>
            <a:r>
              <a:rPr sz="2475" b="0">
                <a:solidFill>
                  <a:srgbClr val="17211F"/>
                </a:solidFill>
                <a:latin typeface="Arial"/>
                <a:ea typeface="Arial"/>
                <a:cs typeface="Arial"/>
              </a:rPr>
              <a:t>Indica menu, prezzi,</a:t>
            </a:r>
          </a:p>
          <a:p xmlns:a="http://schemas.openxmlformats.org/drawingml/2006/main">
            <a:pPr>
              <a:buNone/>
              <a:defRPr sz="2475" b="0">
                <a:solidFill>
                  <a:srgbClr val="17211F"/>
                </a:solidFill>
                <a:latin typeface="Arial"/>
                <a:ea typeface="Arial"/>
                <a:cs typeface="Arial"/>
              </a:defRPr>
            </a:pPr>
            <a:r>
              <a:rPr sz="2475" b="0">
                <a:solidFill>
                  <a:srgbClr val="17211F"/>
                </a:solidFill>
                <a:latin typeface="Arial"/>
                <a:ea typeface="Arial"/>
                <a:cs typeface="Arial"/>
              </a:rPr>
              <a:t>porzioni e tempi.</a:t>
            </a:r>
          </a:p>
          <a:p xmlns:a="http://schemas.openxmlformats.org/drawingml/2006/main">
            <a:pPr>
              <a:buNone/>
              <a:defRPr sz="2475" b="0">
                <a:solidFill>
                  <a:srgbClr val="17211F"/>
                </a:solidFill>
                <a:latin typeface="Arial"/>
                <a:ea typeface="Arial"/>
                <a:cs typeface="Arial"/>
              </a:defRPr>
            </a:pPr>
            <a:r>
              <a:rPr sz="2475" b="0">
                <a:solidFill>
                  <a:srgbClr val="17211F"/>
                </a:solidFill>
                <a:latin typeface="Arial"/>
                <a:ea typeface="Arial"/>
                <a:cs typeface="Arial"/>
              </a:rPr>
              <a:t>Risponde lui o abilita l’AI.</a:t>
            </a:r>
          </a:p>
        </p:txBody>
      </p:sp>
      <p:sp>
        <p:nvSpPr>
          <p:cNvPr id="4" name="customer-heading">
            <a:extLst xmlns:a="http://schemas.openxmlformats.org/drawingml/2006/main">
              <a:ext uri="{FF2B5EF4-FFF2-40B4-BE49-F238E27FC236}">
                <a16:creationId xmlns:a16="http://schemas.microsoft.com/office/drawing/2014/main" id="{440CB097-B452-4897-98AC-88A2C9FD4764}"/>
              </a:ext>
            </a:extLst>
          </p:cNvPr>
          <p:cNvSpPr>
            <a:spLocks xmlns:a="http://schemas.openxmlformats.org/drawingml/2006/main" noGrp="1"/>
          </p:cNvSpPr>
          <p:nvPr/>
        </p:nvSpPr>
        <p:spPr>
          <a:xfrm xmlns:a="http://schemas.openxmlformats.org/drawingml/2006/main">
            <a:off x="7115175" y="211455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550" b="1">
                <a:solidFill>
                  <a:srgbClr val="DE4528"/>
                </a:solidFill>
                <a:latin typeface="Arial"/>
                <a:ea typeface="Arial"/>
                <a:cs typeface="Arial"/>
              </a:defRPr>
            </a:pPr>
            <a:r>
              <a:rPr sz="2550" b="1">
                <a:solidFill>
                  <a:srgbClr val="DE4528"/>
                </a:solidFill>
                <a:latin typeface="Arial"/>
                <a:ea typeface="Arial"/>
                <a:cs typeface="Arial"/>
              </a:rPr>
              <a:t>L’intelligenza artificiale</a:t>
            </a:r>
          </a:p>
        </p:txBody>
      </p:sp>
      <p:sp>
        <p:nvSpPr>
          <p:cNvPr id="5" name="customer-body">
            <a:extLst xmlns:a="http://schemas.openxmlformats.org/drawingml/2006/main">
              <a:ext uri="{FF2B5EF4-FFF2-40B4-BE49-F238E27FC236}">
                <a16:creationId xmlns:a16="http://schemas.microsoft.com/office/drawing/2014/main" id="{541A30AF-AB03-4202-9926-6A02595D28B6}"/>
              </a:ext>
            </a:extLst>
          </p:cNvPr>
          <p:cNvSpPr>
            <a:spLocks xmlns:a="http://schemas.openxmlformats.org/drawingml/2006/main" noGrp="1"/>
          </p:cNvSpPr>
          <p:nvPr/>
        </p:nvSpPr>
        <p:spPr>
          <a:xfrm xmlns:a="http://schemas.openxmlformats.org/drawingml/2006/main">
            <a:off x="7115175" y="2933700"/>
            <a:ext cx="4591050"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400" b="0">
                <a:solidFill>
                  <a:srgbClr val="17211F"/>
                </a:solidFill>
                <a:latin typeface="Arial"/>
                <a:ea typeface="Arial"/>
                <a:cs typeface="Arial"/>
              </a:defRPr>
            </a:pPr>
            <a:r>
              <a:rPr sz="2400" b="0">
                <a:solidFill>
                  <a:srgbClr val="17211F"/>
                </a:solidFill>
                <a:latin typeface="Arial"/>
                <a:ea typeface="Arial"/>
                <a:cs typeface="Arial"/>
              </a:rPr>
              <a:t>Legge la richiesta.</a:t>
            </a:r>
          </a:p>
          <a:p xmlns:a="http://schemas.openxmlformats.org/drawingml/2006/main">
            <a:pPr>
              <a:buNone/>
              <a:defRPr sz="2400" b="0">
                <a:solidFill>
                  <a:srgbClr val="17211F"/>
                </a:solidFill>
                <a:latin typeface="Arial"/>
                <a:ea typeface="Arial"/>
                <a:cs typeface="Arial"/>
              </a:defRPr>
            </a:pPr>
            <a:r>
              <a:rPr sz="2400" b="0">
                <a:solidFill>
                  <a:srgbClr val="17211F"/>
                </a:solidFill>
                <a:latin typeface="Arial"/>
                <a:ea typeface="Arial"/>
                <a:cs typeface="Arial"/>
              </a:rPr>
              <a:t>Propone un piatto entro</a:t>
            </a:r>
          </a:p>
          <a:p xmlns:a="http://schemas.openxmlformats.org/drawingml/2006/main">
            <a:pPr>
              <a:buNone/>
              <a:defRPr sz="2400" b="0">
                <a:solidFill>
                  <a:srgbClr val="17211F"/>
                </a:solidFill>
                <a:latin typeface="Arial"/>
                <a:ea typeface="Arial"/>
                <a:cs typeface="Arial"/>
              </a:defRPr>
            </a:pPr>
            <a:r>
              <a:rPr sz="2400" b="0">
                <a:solidFill>
                  <a:srgbClr val="17211F"/>
                </a:solidFill>
                <a:latin typeface="Arial"/>
                <a:ea typeface="Arial"/>
                <a:cs typeface="Arial"/>
              </a:rPr>
              <a:t>le regole di Luca.</a:t>
            </a:r>
          </a:p>
        </p:txBody>
      </p:sp>
      <p:sp>
        <p:nvSpPr>
          <p:cNvPr id="6" name="boundary">
            <a:extLst xmlns:a="http://schemas.openxmlformats.org/drawingml/2006/main">
              <a:ext uri="{FF2B5EF4-FFF2-40B4-BE49-F238E27FC236}">
                <a16:creationId xmlns:a16="http://schemas.microsoft.com/office/drawing/2014/main" id="{A7D6EAF3-AB46-4506-9CB3-24DC1D746778}"/>
              </a:ext>
            </a:extLst>
          </p:cNvPr>
          <p:cNvSpPr>
            <a:spLocks xmlns:a="http://schemas.openxmlformats.org/drawingml/2006/main" noGrp="1"/>
          </p:cNvSpPr>
          <p:nvPr/>
        </p:nvSpPr>
        <p:spPr>
          <a:xfrm xmlns:a="http://schemas.openxmlformats.org/drawingml/2006/main">
            <a:off x="723900" y="53816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025" b="0">
                <a:solidFill>
                  <a:srgbClr val="5F6861"/>
                </a:solidFill>
                <a:latin typeface="Arial"/>
                <a:ea typeface="Arial"/>
                <a:cs typeface="Arial"/>
              </a:defRPr>
            </a:pPr>
            <a:r>
              <a:rPr sz="2025" b="0">
                <a:solidFill>
                  <a:srgbClr val="5F6861"/>
                </a:solidFill>
                <a:latin typeface="Arial"/>
                <a:ea typeface="Arial"/>
                <a:cs typeface="Arial"/>
              </a:rPr>
              <a:t>Nel prototipo, l’AI risponde mentre il pannello del gestore è aperto.</a:t>
            </a:r>
          </a:p>
        </p:txBody>
      </p:sp>
      <p:sp>
        <p:nvSpPr>
          <p:cNvPr id="7" name="footer-app">
            <a:extLst xmlns:a="http://schemas.openxmlformats.org/drawingml/2006/main">
              <a:ext uri="{FF2B5EF4-FFF2-40B4-BE49-F238E27FC236}">
                <a16:creationId xmlns:a16="http://schemas.microsoft.com/office/drawing/2014/main" id="{F5FD61E1-D964-4214-B507-41538593B50D}"/>
              </a:ext>
            </a:extLst>
          </p:cNvPr>
          <p:cNvSpPr>
            <a:spLocks xmlns:a="http://schemas.openxmlformats.org/drawingml/2006/main" noGrp="1"/>
          </p:cNvSpPr>
          <p:nvPr/>
        </p:nvSpPr>
        <p:spPr>
          <a:xfrm xmlns:a="http://schemas.openxmlformats.org/drawingml/2006/main">
            <a:off x="68580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489be5f4b0ab4e5c"/>
              </a:rPr>
              <a:t>Apri Food Arena</a:t>
            </a:r>
          </a:p>
        </p:txBody>
      </p:sp>
      <p:sp>
        <p:nvSpPr>
          <p:cNvPr id="8" name="footer-repo">
            <a:extLst xmlns:a="http://schemas.openxmlformats.org/drawingml/2006/main">
              <a:ext uri="{FF2B5EF4-FFF2-40B4-BE49-F238E27FC236}">
                <a16:creationId xmlns:a16="http://schemas.microsoft.com/office/drawing/2014/main" id="{ED2AA39E-CE04-4AC2-8943-C82A0C622885}"/>
              </a:ext>
            </a:extLst>
          </p:cNvPr>
          <p:cNvSpPr>
            <a:spLocks xmlns:a="http://schemas.openxmlformats.org/drawingml/2006/main" noGrp="1"/>
          </p:cNvSpPr>
          <p:nvPr/>
        </p:nvSpPr>
        <p:spPr>
          <a:xfrm xmlns:a="http://schemas.openxmlformats.org/drawingml/2006/main">
            <a:off x="310515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6b6fc6b8d5b74325"/>
              </a:rPr>
              <a:t>Codice GitHub</a:t>
            </a:r>
          </a:p>
        </p:txBody>
      </p:sp>
      <p:sp>
        <p:nvSpPr>
          <p:cNvPr id="9" name="footer-proof">
            <a:extLst xmlns:a="http://schemas.openxmlformats.org/drawingml/2006/main">
              <a:ext uri="{FF2B5EF4-FFF2-40B4-BE49-F238E27FC236}">
                <a16:creationId xmlns:a16="http://schemas.microsoft.com/office/drawing/2014/main" id="{5E7A2493-46AD-408F-9BFB-69FC78376BE2}"/>
              </a:ext>
            </a:extLst>
          </p:cNvPr>
          <p:cNvSpPr>
            <a:spLocks xmlns:a="http://schemas.openxmlformats.org/drawingml/2006/main" noGrp="1"/>
          </p:cNvSpPr>
          <p:nvPr/>
        </p:nvSpPr>
        <p:spPr>
          <a:xfrm xmlns:a="http://schemas.openxmlformats.org/drawingml/2006/main">
            <a:off x="5429250" y="64008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f5e73682c2b74866"/>
              </a:rPr>
              <a:t>Prove Avalanche</a:t>
            </a:r>
          </a:p>
        </p:txBody>
      </p:sp>
      <p:sp>
        <p:nvSpPr>
          <p:cNvPr id="10" name="footer-page">
            <a:extLst xmlns:a="http://schemas.openxmlformats.org/drawingml/2006/main">
              <a:ext uri="{FF2B5EF4-FFF2-40B4-BE49-F238E27FC236}">
                <a16:creationId xmlns:a16="http://schemas.microsoft.com/office/drawing/2014/main" id="{2632D184-1C05-4622-ACCC-FDDA010ADEA0}"/>
              </a:ext>
            </a:extLst>
          </p:cNvPr>
          <p:cNvSpPr>
            <a:spLocks xmlns:a="http://schemas.openxmlformats.org/drawingml/2006/main" noGrp="1"/>
          </p:cNvSpPr>
          <p:nvPr/>
        </p:nvSpPr>
        <p:spPr>
          <a:xfrm xmlns:a="http://schemas.openxmlformats.org/drawingml/2006/main">
            <a:off x="10953750" y="64008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rPr>
              <a:t>3 / 8</a:t>
            </a:r>
          </a:p>
        </p:txBody>
      </p:sp>
    </p:spTree>
    <p:extLst>
      <p:ext uri="{BB962C8B-B14F-4D97-AF65-F5344CB8AC3E}">
        <p14:creationId xmlns:p14="http://schemas.microsoft.com/office/powerpoint/2010/main" val="1156730528"/>
      </p:ext>
    </p:extLst>
  </p:cSld>
</p:sld>
</file>

<file path=ppt/slides/slide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D5A2E957-D85D-48BC-94E4-0B1B75BCBB71}"/>
              </a:ext>
            </a:extLst>
          </p:cNvPr>
          <p:cNvSpPr>
            <a:spLocks xmlns:a="http://schemas.openxmlformats.org/drawingml/2006/main" noGrp="1"/>
          </p:cNvSpPr>
          <p:nvPr/>
        </p:nvSpPr>
        <p:spPr>
          <a:xfrm xmlns:a="http://schemas.openxmlformats.org/drawingml/2006/main">
            <a:off x="685800" y="6096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4050" b="1">
                <a:solidFill>
                  <a:srgbClr val="17211F"/>
                </a:solidFill>
                <a:latin typeface="Arial"/>
                <a:ea typeface="Arial"/>
                <a:cs typeface="Arial"/>
              </a:defRPr>
            </a:pPr>
            <a:r>
              <a:rPr sz="4050" b="1">
                <a:solidFill>
                  <a:srgbClr val="17211F"/>
                </a:solidFill>
                <a:latin typeface="Arial"/>
                <a:ea typeface="Arial"/>
                <a:cs typeface="Arial"/>
              </a:rPr>
              <a:t>Chi paga Food Arena</a:t>
            </a:r>
          </a:p>
        </p:txBody>
      </p:sp>
      <p:sp>
        <p:nvSpPr>
          <p:cNvPr id="2" name="chain">
            <a:extLst xmlns:a="http://schemas.openxmlformats.org/drawingml/2006/main">
              <a:ext uri="{FF2B5EF4-FFF2-40B4-BE49-F238E27FC236}">
                <a16:creationId xmlns:a16="http://schemas.microsoft.com/office/drawing/2014/main" id="{7A1F7AE1-B255-4E18-9E0D-B4707CCDFC98}"/>
              </a:ext>
            </a:extLst>
          </p:cNvPr>
          <p:cNvSpPr>
            <a:spLocks xmlns:a="http://schemas.openxmlformats.org/drawingml/2006/main" noGrp="1"/>
          </p:cNvSpPr>
          <p:nvPr/>
        </p:nvSpPr>
        <p:spPr>
          <a:xfrm xmlns:a="http://schemas.openxmlformats.org/drawingml/2006/main">
            <a:off x="723900" y="2076450"/>
            <a:ext cx="4714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6000" b="1">
                <a:solidFill>
                  <a:srgbClr val="17211F"/>
                </a:solidFill>
                <a:latin typeface="Arial"/>
                <a:ea typeface="Arial"/>
                <a:cs typeface="Arial"/>
              </a:defRPr>
            </a:pPr>
            <a:r>
              <a:rPr sz="6000" b="1">
                <a:solidFill>
                  <a:srgbClr val="17211F"/>
                </a:solidFill>
                <a:latin typeface="Arial"/>
                <a:ea typeface="Arial"/>
                <a:cs typeface="Arial"/>
              </a:rPr>
              <a:t>10 €</a:t>
            </a:r>
          </a:p>
        </p:txBody>
      </p:sp>
      <p:sp>
        <p:nvSpPr>
          <p:cNvPr id="3" name="chain-label">
            <a:extLst xmlns:a="http://schemas.openxmlformats.org/drawingml/2006/main">
              <a:ext uri="{FF2B5EF4-FFF2-40B4-BE49-F238E27FC236}">
                <a16:creationId xmlns:a16="http://schemas.microsoft.com/office/drawing/2014/main" id="{A250AF9E-C182-411F-8362-4E3E63EE7731}"/>
              </a:ext>
            </a:extLst>
          </p:cNvPr>
          <p:cNvSpPr>
            <a:spLocks xmlns:a="http://schemas.openxmlformats.org/drawingml/2006/main" noGrp="1"/>
          </p:cNvSpPr>
          <p:nvPr/>
        </p:nvSpPr>
        <p:spPr>
          <a:xfrm xmlns:a="http://schemas.openxmlformats.org/drawingml/2006/main">
            <a:off x="723900" y="3419475"/>
            <a:ext cx="5286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400" b="0">
                <a:solidFill>
                  <a:srgbClr val="17211F"/>
                </a:solidFill>
                <a:latin typeface="Arial"/>
                <a:ea typeface="Arial"/>
                <a:cs typeface="Arial"/>
              </a:defRPr>
            </a:pPr>
            <a:r>
              <a:rPr sz="2400" b="0">
                <a:solidFill>
                  <a:srgbClr val="17211F"/>
                </a:solidFill>
                <a:latin typeface="Arial"/>
                <a:ea typeface="Arial"/>
                <a:cs typeface="Arial"/>
              </a:rPr>
              <a:t>Anna paga il pranzo al locale.</a:t>
            </a:r>
          </a:p>
          <a:p xmlns:a="http://schemas.openxmlformats.org/drawingml/2006/main">
            <a:pPr>
              <a:buNone/>
              <a:defRPr sz="2400" b="0">
                <a:solidFill>
                  <a:srgbClr val="17211F"/>
                </a:solidFill>
                <a:latin typeface="Arial"/>
                <a:ea typeface="Arial"/>
                <a:cs typeface="Arial"/>
              </a:defRPr>
            </a:pPr>
            <a:r>
              <a:rPr sz="2400" b="0">
                <a:solidFill>
                  <a:srgbClr val="17211F"/>
                </a:solidFill>
                <a:latin typeface="Arial"/>
                <a:ea typeface="Arial"/>
                <a:cs typeface="Arial"/>
              </a:rPr>
              <a:t>Nessuna quota aggiuntiva.</a:t>
            </a:r>
          </a:p>
        </p:txBody>
      </p:sp>
      <p:sp>
        <p:nvSpPr>
          <p:cNvPr id="4" name="proof-result">
            <a:extLst xmlns:a="http://schemas.openxmlformats.org/drawingml/2006/main">
              <a:ext uri="{FF2B5EF4-FFF2-40B4-BE49-F238E27FC236}">
                <a16:creationId xmlns:a16="http://schemas.microsoft.com/office/drawing/2014/main" id="{5CA14088-278E-41AA-938E-596695AABBA8}"/>
              </a:ext>
            </a:extLst>
          </p:cNvPr>
          <p:cNvSpPr>
            <a:spLocks xmlns:a="http://schemas.openxmlformats.org/drawingml/2006/main" noGrp="1"/>
          </p:cNvSpPr>
          <p:nvPr/>
        </p:nvSpPr>
        <p:spPr>
          <a:xfrm xmlns:a="http://schemas.openxmlformats.org/drawingml/2006/main">
            <a:off x="6943725" y="2076450"/>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6000" b="1">
                <a:solidFill>
                  <a:srgbClr val="DE4528"/>
                </a:solidFill>
                <a:latin typeface="Arial"/>
                <a:ea typeface="Arial"/>
                <a:cs typeface="Arial"/>
              </a:defRPr>
            </a:pPr>
            <a:r>
              <a:rPr sz="6000" b="1">
                <a:solidFill>
                  <a:srgbClr val="DE4528"/>
                </a:solidFill>
                <a:latin typeface="Arial"/>
                <a:ea typeface="Arial"/>
                <a:cs typeface="Arial"/>
              </a:rPr>
              <a:t>0,70 €</a:t>
            </a:r>
          </a:p>
        </p:txBody>
      </p:sp>
      <p:sp>
        <p:nvSpPr>
          <p:cNvPr id="5" name="meaning">
            <a:extLst xmlns:a="http://schemas.openxmlformats.org/drawingml/2006/main">
              <a:ext uri="{FF2B5EF4-FFF2-40B4-BE49-F238E27FC236}">
                <a16:creationId xmlns:a16="http://schemas.microsoft.com/office/drawing/2014/main" id="{4398C0B7-131C-4312-918B-B4A1F5FE859A}"/>
              </a:ext>
            </a:extLst>
          </p:cNvPr>
          <p:cNvSpPr>
            <a:spLocks xmlns:a="http://schemas.openxmlformats.org/drawingml/2006/main" noGrp="1"/>
          </p:cNvSpPr>
          <p:nvPr/>
        </p:nvSpPr>
        <p:spPr>
          <a:xfrm xmlns:a="http://schemas.openxmlformats.org/drawingml/2006/main">
            <a:off x="6943725" y="3419475"/>
            <a:ext cx="46672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325" b="0">
                <a:solidFill>
                  <a:srgbClr val="17211F"/>
                </a:solidFill>
                <a:latin typeface="Arial"/>
                <a:ea typeface="Arial"/>
                <a:cs typeface="Arial"/>
              </a:defRPr>
            </a:pPr>
            <a:r>
              <a:rPr sz="2325" b="0">
                <a:solidFill>
                  <a:srgbClr val="17211F"/>
                </a:solidFill>
                <a:latin typeface="Arial"/>
                <a:ea typeface="Arial"/>
                <a:cs typeface="Arial"/>
              </a:rPr>
              <a:t>Settanta centesimi.</a:t>
            </a:r>
          </a:p>
          <a:p xmlns:a="http://schemas.openxmlformats.org/drawingml/2006/main">
            <a:pPr>
              <a:buNone/>
              <a:defRPr sz="2325" b="0">
                <a:solidFill>
                  <a:srgbClr val="17211F"/>
                </a:solidFill>
                <a:latin typeface="Arial"/>
                <a:ea typeface="Arial"/>
                <a:cs typeface="Arial"/>
              </a:defRPr>
            </a:pPr>
            <a:r>
              <a:rPr sz="2325" b="0">
                <a:solidFill>
                  <a:srgbClr val="17211F"/>
                </a:solidFill>
                <a:latin typeface="Arial"/>
                <a:ea typeface="Arial"/>
                <a:cs typeface="Arial"/>
              </a:rPr>
              <a:t>Il locale paga Food Arena</a:t>
            </a:r>
          </a:p>
          <a:p xmlns:a="http://schemas.openxmlformats.org/drawingml/2006/main">
            <a:pPr>
              <a:buNone/>
              <a:defRPr sz="2325" b="0">
                <a:solidFill>
                  <a:srgbClr val="17211F"/>
                </a:solidFill>
                <a:latin typeface="Arial"/>
                <a:ea typeface="Arial"/>
                <a:cs typeface="Arial"/>
              </a:defRPr>
            </a:pPr>
            <a:r>
              <a:rPr sz="2325" b="0">
                <a:solidFill>
                  <a:srgbClr val="17211F"/>
                </a:solidFill>
                <a:latin typeface="Arial"/>
                <a:ea typeface="Arial"/>
                <a:cs typeface="Arial"/>
              </a:rPr>
              <a:t>per il ritiro completato.</a:t>
            </a:r>
          </a:p>
        </p:txBody>
      </p:sp>
      <p:sp>
        <p:nvSpPr>
          <p:cNvPr id="6" name="limit">
            <a:extLst xmlns:a="http://schemas.openxmlformats.org/drawingml/2006/main">
              <a:ext uri="{FF2B5EF4-FFF2-40B4-BE49-F238E27FC236}">
                <a16:creationId xmlns:a16="http://schemas.microsoft.com/office/drawing/2014/main" id="{8B867E37-E47D-4975-A7C4-46FE7FD8A08C}"/>
              </a:ext>
            </a:extLst>
          </p:cNvPr>
          <p:cNvSpPr>
            <a:spLocks xmlns:a="http://schemas.openxmlformats.org/drawingml/2006/main" noGrp="1"/>
          </p:cNvSpPr>
          <p:nvPr/>
        </p:nvSpPr>
        <p:spPr>
          <a:xfrm xmlns:a="http://schemas.openxmlformats.org/drawingml/2006/main">
            <a:off x="723900" y="5400675"/>
            <a:ext cx="10763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5F6861"/>
                </a:solidFill>
                <a:latin typeface="Arial"/>
                <a:ea typeface="Arial"/>
                <a:cs typeface="Arial"/>
              </a:defRPr>
            </a:pPr>
            <a:r>
              <a:rPr sz="1875" b="0">
                <a:solidFill>
                  <a:srgbClr val="5F6861"/>
                </a:solidFill>
                <a:latin typeface="Arial"/>
                <a:ea typeface="Arial"/>
                <a:cs typeface="Arial"/>
              </a:rPr>
              <a:t>Proposta da validare, oggi non attiva.</a:t>
            </a:r>
          </a:p>
          <a:p xmlns:a="http://schemas.openxmlformats.org/drawingml/2006/main">
            <a:pPr>
              <a:buNone/>
              <a:defRPr sz="1875" b="0">
                <a:solidFill>
                  <a:srgbClr val="5F6861"/>
                </a:solidFill>
                <a:latin typeface="Arial"/>
                <a:ea typeface="Arial"/>
                <a:cs typeface="Arial"/>
              </a:defRPr>
            </a:pPr>
            <a:r>
              <a:rPr sz="1875" b="0">
                <a:solidFill>
                  <a:srgbClr val="5F6861"/>
                </a:solidFill>
                <a:latin typeface="Arial"/>
                <a:ea typeface="Arial"/>
                <a:cs typeface="Arial"/>
              </a:rPr>
              <a:t>Ingresso e invio delle offerte gratuiti per i locali. Nessun canone.</a:t>
            </a:r>
          </a:p>
        </p:txBody>
      </p:sp>
      <p:sp>
        <p:nvSpPr>
          <p:cNvPr id="7" name="footer-app">
            <a:extLst xmlns:a="http://schemas.openxmlformats.org/drawingml/2006/main">
              <a:ext uri="{FF2B5EF4-FFF2-40B4-BE49-F238E27FC236}">
                <a16:creationId xmlns:a16="http://schemas.microsoft.com/office/drawing/2014/main" id="{E1DE6655-AE2A-43C0-B962-EA91055C4B7F}"/>
              </a:ext>
            </a:extLst>
          </p:cNvPr>
          <p:cNvSpPr>
            <a:spLocks xmlns:a="http://schemas.openxmlformats.org/drawingml/2006/main" noGrp="1"/>
          </p:cNvSpPr>
          <p:nvPr/>
        </p:nvSpPr>
        <p:spPr>
          <a:xfrm xmlns:a="http://schemas.openxmlformats.org/drawingml/2006/main">
            <a:off x="68580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6e23c07057314e3c"/>
              </a:rPr>
              <a:t>Apri Food Arena</a:t>
            </a:r>
          </a:p>
        </p:txBody>
      </p:sp>
      <p:sp>
        <p:nvSpPr>
          <p:cNvPr id="8" name="footer-repo">
            <a:extLst xmlns:a="http://schemas.openxmlformats.org/drawingml/2006/main">
              <a:ext uri="{FF2B5EF4-FFF2-40B4-BE49-F238E27FC236}">
                <a16:creationId xmlns:a16="http://schemas.microsoft.com/office/drawing/2014/main" id="{CE20D2E7-0C2D-4486-AE6B-C540956919DF}"/>
              </a:ext>
            </a:extLst>
          </p:cNvPr>
          <p:cNvSpPr>
            <a:spLocks xmlns:a="http://schemas.openxmlformats.org/drawingml/2006/main" noGrp="1"/>
          </p:cNvSpPr>
          <p:nvPr/>
        </p:nvSpPr>
        <p:spPr>
          <a:xfrm xmlns:a="http://schemas.openxmlformats.org/drawingml/2006/main">
            <a:off x="310515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e95bc60908de41d0"/>
              </a:rPr>
              <a:t>Codice GitHub</a:t>
            </a:r>
          </a:p>
        </p:txBody>
      </p:sp>
      <p:sp>
        <p:nvSpPr>
          <p:cNvPr id="9" name="footer-proof">
            <a:extLst xmlns:a="http://schemas.openxmlformats.org/drawingml/2006/main">
              <a:ext uri="{FF2B5EF4-FFF2-40B4-BE49-F238E27FC236}">
                <a16:creationId xmlns:a16="http://schemas.microsoft.com/office/drawing/2014/main" id="{4F8CCFDF-7E76-41BC-8028-3762A9B9ED2F}"/>
              </a:ext>
            </a:extLst>
          </p:cNvPr>
          <p:cNvSpPr>
            <a:spLocks xmlns:a="http://schemas.openxmlformats.org/drawingml/2006/main" noGrp="1"/>
          </p:cNvSpPr>
          <p:nvPr/>
        </p:nvSpPr>
        <p:spPr>
          <a:xfrm xmlns:a="http://schemas.openxmlformats.org/drawingml/2006/main">
            <a:off x="5429250" y="64008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f4162602d0b24dc0"/>
              </a:rPr>
              <a:t>Prove Avalanche</a:t>
            </a:r>
          </a:p>
        </p:txBody>
      </p:sp>
      <p:sp>
        <p:nvSpPr>
          <p:cNvPr id="10" name="footer-page">
            <a:extLst xmlns:a="http://schemas.openxmlformats.org/drawingml/2006/main">
              <a:ext uri="{FF2B5EF4-FFF2-40B4-BE49-F238E27FC236}">
                <a16:creationId xmlns:a16="http://schemas.microsoft.com/office/drawing/2014/main" id="{54B843D5-4BD0-4658-A587-D3522AB5B714}"/>
              </a:ext>
            </a:extLst>
          </p:cNvPr>
          <p:cNvSpPr>
            <a:spLocks xmlns:a="http://schemas.openxmlformats.org/drawingml/2006/main" noGrp="1"/>
          </p:cNvSpPr>
          <p:nvPr/>
        </p:nvSpPr>
        <p:spPr>
          <a:xfrm xmlns:a="http://schemas.openxmlformats.org/drawingml/2006/main">
            <a:off x="10953750" y="64008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rPr>
              <a:t>4 / 8</a:t>
            </a:r>
          </a:p>
        </p:txBody>
      </p:sp>
    </p:spTree>
    <p:extLst>
      <p:ext uri="{BB962C8B-B14F-4D97-AF65-F5344CB8AC3E}">
        <p14:creationId xmlns:p14="http://schemas.microsoft.com/office/powerpoint/2010/main" val="547207343"/>
      </p:ext>
    </p:extLst>
  </p:cSld>
</p:sld>
</file>

<file path=ppt/slides/slide5.xml><?xml version="1.0" encoding="utf-8"?>
<p:sld xmlns:p="http://schemas.openxmlformats.org/presentationml/2006/main">
  <p:cSld>
    <p:bg>
      <p:bgPr>
        <a:solidFill xmlns:a="http://schemas.openxmlformats.org/drawingml/2006/main">
          <a:srgbClr val="EAFF78"/>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5DD3A907-80E4-488E-AA35-A07BA0C5B9BE}"/>
              </a:ext>
            </a:extLst>
          </p:cNvPr>
          <p:cNvSpPr>
            <a:spLocks xmlns:a="http://schemas.openxmlformats.org/drawingml/2006/main" noGrp="1"/>
          </p:cNvSpPr>
          <p:nvPr/>
        </p:nvSpPr>
        <p:spPr>
          <a:xfrm xmlns:a="http://schemas.openxmlformats.org/drawingml/2006/main">
            <a:off x="685800" y="6096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3600" b="1">
                <a:solidFill>
                  <a:srgbClr val="17211F"/>
                </a:solidFill>
                <a:latin typeface="Arial"/>
                <a:ea typeface="Arial"/>
                <a:cs typeface="Arial"/>
              </a:defRPr>
            </a:pPr>
            <a:r>
              <a:rPr sz="3600" b="1">
                <a:solidFill>
                  <a:srgbClr val="17211F"/>
                </a:solidFill>
                <a:latin typeface="Arial"/>
                <a:ea typeface="Arial"/>
                <a:cs typeface="Arial"/>
              </a:rPr>
              <a:t>Il budget del locale serve alle commissioni</a:t>
            </a:r>
          </a:p>
        </p:txBody>
      </p:sp>
      <p:sp>
        <p:nvSpPr>
          <p:cNvPr id="2" name="pilot">
            <a:extLst xmlns:a="http://schemas.openxmlformats.org/drawingml/2006/main">
              <a:ext uri="{FF2B5EF4-FFF2-40B4-BE49-F238E27FC236}">
                <a16:creationId xmlns:a16="http://schemas.microsoft.com/office/drawing/2014/main" id="{CED8F116-4688-4C36-A650-DC543AAE7FCC}"/>
              </a:ext>
            </a:extLst>
          </p:cNvPr>
          <p:cNvSpPr>
            <a:spLocks xmlns:a="http://schemas.openxmlformats.org/drawingml/2006/main" noGrp="1"/>
          </p:cNvSpPr>
          <p:nvPr/>
        </p:nvSpPr>
        <p:spPr>
          <a:xfrm xmlns:a="http://schemas.openxmlformats.org/drawingml/2006/main">
            <a:off x="723900" y="2219325"/>
            <a:ext cx="106680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4950" b="1">
                <a:solidFill>
                  <a:srgbClr val="17211F"/>
                </a:solidFill>
                <a:latin typeface="Arial"/>
                <a:ea typeface="Arial"/>
                <a:cs typeface="Arial"/>
              </a:defRPr>
            </a:pPr>
            <a:r>
              <a:rPr sz="4950" b="1">
                <a:solidFill>
                  <a:srgbClr val="17211F"/>
                </a:solidFill>
                <a:latin typeface="Arial"/>
                <a:ea typeface="Arial"/>
                <a:cs typeface="Arial"/>
              </a:rPr>
              <a:t>Luca mette da parte</a:t>
            </a:r>
          </a:p>
          <a:p xmlns:a="http://schemas.openxmlformats.org/drawingml/2006/main">
            <a:pPr>
              <a:buNone/>
              <a:defRPr sz="4950" b="1">
                <a:solidFill>
                  <a:srgbClr val="17211F"/>
                </a:solidFill>
                <a:latin typeface="Arial"/>
                <a:ea typeface="Arial"/>
                <a:cs typeface="Arial"/>
              </a:defRPr>
            </a:pPr>
            <a:r>
              <a:rPr sz="4950" b="1">
                <a:solidFill>
                  <a:srgbClr val="17211F"/>
                </a:solidFill>
                <a:latin typeface="Arial"/>
                <a:ea typeface="Arial"/>
                <a:cs typeface="Arial"/>
              </a:rPr>
              <a:t>7 € per 10 ritiri</a:t>
            </a:r>
          </a:p>
        </p:txBody>
      </p:sp>
      <p:sp>
        <p:nvSpPr>
          <p:cNvPr id="3" name="metrics">
            <a:extLst xmlns:a="http://schemas.openxmlformats.org/drawingml/2006/main">
              <a:ext uri="{FF2B5EF4-FFF2-40B4-BE49-F238E27FC236}">
                <a16:creationId xmlns:a16="http://schemas.microsoft.com/office/drawing/2014/main" id="{E02F1590-83BB-41BA-A93A-3B7BA4EB996B}"/>
              </a:ext>
            </a:extLst>
          </p:cNvPr>
          <p:cNvSpPr>
            <a:spLocks xmlns:a="http://schemas.openxmlformats.org/drawingml/2006/main" noGrp="1"/>
          </p:cNvSpPr>
          <p:nvPr/>
        </p:nvSpPr>
        <p:spPr>
          <a:xfrm xmlns:a="http://schemas.openxmlformats.org/drawingml/2006/main">
            <a:off x="723900" y="411480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325" b="0">
                <a:solidFill>
                  <a:srgbClr val="17211F"/>
                </a:solidFill>
                <a:latin typeface="Arial"/>
                <a:ea typeface="Arial"/>
                <a:cs typeface="Arial"/>
              </a:defRPr>
            </a:pPr>
            <a:r>
              <a:rPr sz="2325" b="0">
                <a:solidFill>
                  <a:srgbClr val="17211F"/>
                </a:solidFill>
                <a:latin typeface="Arial"/>
                <a:ea typeface="Arial"/>
                <a:cs typeface="Arial"/>
              </a:rPr>
              <a:t>È una provvista per pagare Food Arena.</a:t>
            </a:r>
          </a:p>
          <a:p xmlns:a="http://schemas.openxmlformats.org/drawingml/2006/main">
            <a:pPr>
              <a:buNone/>
              <a:defRPr sz="2325" b="0">
                <a:solidFill>
                  <a:srgbClr val="17211F"/>
                </a:solidFill>
                <a:latin typeface="Arial"/>
                <a:ea typeface="Arial"/>
                <a:cs typeface="Arial"/>
              </a:defRPr>
            </a:pPr>
            <a:r>
              <a:rPr sz="2325" b="0">
                <a:solidFill>
                  <a:srgbClr val="17211F"/>
                </a:solidFill>
                <a:latin typeface="Arial"/>
                <a:ea typeface="Arial"/>
                <a:cs typeface="Arial"/>
              </a:rPr>
              <a:t>Anna paga il proprio pranzo separatamente al locale.</a:t>
            </a:r>
          </a:p>
        </p:txBody>
      </p:sp>
      <p:sp>
        <p:nvSpPr>
          <p:cNvPr id="4" name="pricing">
            <a:extLst xmlns:a="http://schemas.openxmlformats.org/drawingml/2006/main">
              <a:ext uri="{FF2B5EF4-FFF2-40B4-BE49-F238E27FC236}">
                <a16:creationId xmlns:a16="http://schemas.microsoft.com/office/drawing/2014/main" id="{55736649-ECF3-49C6-957D-97163711CE95}"/>
              </a:ext>
            </a:extLst>
          </p:cNvPr>
          <p:cNvSpPr>
            <a:spLocks xmlns:a="http://schemas.openxmlformats.org/drawingml/2006/main" noGrp="1"/>
          </p:cNvSpPr>
          <p:nvPr/>
        </p:nvSpPr>
        <p:spPr>
          <a:xfrm xmlns:a="http://schemas.openxmlformats.org/drawingml/2006/main">
            <a:off x="723900" y="516255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2175" b="1">
                <a:solidFill>
                  <a:srgbClr val="17211F"/>
                </a:solidFill>
                <a:latin typeface="Arial"/>
                <a:ea typeface="Arial"/>
                <a:cs typeface="Arial"/>
              </a:defRPr>
            </a:pPr>
            <a:r>
              <a:rPr sz="2175" b="1">
                <a:solidFill>
                  <a:srgbClr val="17211F"/>
                </a:solidFill>
                <a:latin typeface="Arial"/>
                <a:ea typeface="Arial"/>
                <a:cs typeface="Arial"/>
              </a:rPr>
              <a:t>Avalanche custodisce i fondi e applica i limiti autorizzati da Luca.</a:t>
            </a:r>
          </a:p>
        </p:txBody>
      </p:sp>
      <p:sp>
        <p:nvSpPr>
          <p:cNvPr id="5" name="honesty">
            <a:extLst xmlns:a="http://schemas.openxmlformats.org/drawingml/2006/main">
              <a:ext uri="{FF2B5EF4-FFF2-40B4-BE49-F238E27FC236}">
                <a16:creationId xmlns:a16="http://schemas.microsoft.com/office/drawing/2014/main" id="{A5FDE04E-37FC-4C2E-9DDE-5D4E4DCA228B}"/>
              </a:ext>
            </a:extLst>
          </p:cNvPr>
          <p:cNvSpPr>
            <a:spLocks xmlns:a="http://schemas.openxmlformats.org/drawingml/2006/main" noGrp="1"/>
          </p:cNvSpPr>
          <p:nvPr/>
        </p:nvSpPr>
        <p:spPr>
          <a:xfrm xmlns:a="http://schemas.openxmlformats.org/drawingml/2006/main">
            <a:off x="723900" y="590550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650" b="0">
                <a:solidFill>
                  <a:srgbClr val="17211F"/>
                </a:solidFill>
                <a:latin typeface="Arial"/>
                <a:ea typeface="Arial"/>
                <a:cs typeface="Arial"/>
              </a:defRPr>
            </a:pPr>
            <a:r>
              <a:rPr sz="1650" b="0">
                <a:solidFill>
                  <a:srgbClr val="17211F"/>
                </a:solidFill>
                <a:latin typeface="Arial"/>
                <a:ea typeface="Arial"/>
                <a:cs typeface="Arial"/>
              </a:rPr>
              <a:t>Esempio commerciale futuro in euro. Oggi usiamo solo gettoni di prova.</a:t>
            </a:r>
          </a:p>
        </p:txBody>
      </p:sp>
      <p:sp>
        <p:nvSpPr>
          <p:cNvPr id="6" name="footer-app">
            <a:extLst xmlns:a="http://schemas.openxmlformats.org/drawingml/2006/main">
              <a:ext uri="{FF2B5EF4-FFF2-40B4-BE49-F238E27FC236}">
                <a16:creationId xmlns:a16="http://schemas.microsoft.com/office/drawing/2014/main" id="{0BEF94C9-5AA8-4C63-B360-09EE55537B1D}"/>
              </a:ext>
            </a:extLst>
          </p:cNvPr>
          <p:cNvSpPr>
            <a:spLocks xmlns:a="http://schemas.openxmlformats.org/drawingml/2006/main" noGrp="1"/>
          </p:cNvSpPr>
          <p:nvPr/>
        </p:nvSpPr>
        <p:spPr>
          <a:xfrm xmlns:a="http://schemas.openxmlformats.org/drawingml/2006/main">
            <a:off x="68580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2d16c428a8db4f8b"/>
              </a:rPr>
              <a:t>Apri Food Arena</a:t>
            </a:r>
          </a:p>
        </p:txBody>
      </p:sp>
      <p:sp>
        <p:nvSpPr>
          <p:cNvPr id="7" name="footer-repo">
            <a:extLst xmlns:a="http://schemas.openxmlformats.org/drawingml/2006/main">
              <a:ext uri="{FF2B5EF4-FFF2-40B4-BE49-F238E27FC236}">
                <a16:creationId xmlns:a16="http://schemas.microsoft.com/office/drawing/2014/main" id="{9A579DE2-E27F-42B9-884D-A941351495EC}"/>
              </a:ext>
            </a:extLst>
          </p:cNvPr>
          <p:cNvSpPr>
            <a:spLocks xmlns:a="http://schemas.openxmlformats.org/drawingml/2006/main" noGrp="1"/>
          </p:cNvSpPr>
          <p:nvPr/>
        </p:nvSpPr>
        <p:spPr>
          <a:xfrm xmlns:a="http://schemas.openxmlformats.org/drawingml/2006/main">
            <a:off x="310515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3cdf48b7ab6541b0"/>
              </a:rPr>
              <a:t>Codice GitHub</a:t>
            </a:r>
          </a:p>
        </p:txBody>
      </p:sp>
      <p:sp>
        <p:nvSpPr>
          <p:cNvPr id="8" name="footer-proof">
            <a:extLst xmlns:a="http://schemas.openxmlformats.org/drawingml/2006/main">
              <a:ext uri="{FF2B5EF4-FFF2-40B4-BE49-F238E27FC236}">
                <a16:creationId xmlns:a16="http://schemas.microsoft.com/office/drawing/2014/main" id="{37A702C0-91BF-4C14-8266-2B4DF3B2F985}"/>
              </a:ext>
            </a:extLst>
          </p:cNvPr>
          <p:cNvSpPr>
            <a:spLocks xmlns:a="http://schemas.openxmlformats.org/drawingml/2006/main" noGrp="1"/>
          </p:cNvSpPr>
          <p:nvPr/>
        </p:nvSpPr>
        <p:spPr>
          <a:xfrm xmlns:a="http://schemas.openxmlformats.org/drawingml/2006/main">
            <a:off x="5429250" y="64008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346079df4d834814"/>
              </a:rPr>
              <a:t>Prove Avalanche</a:t>
            </a:r>
          </a:p>
        </p:txBody>
      </p:sp>
      <p:sp>
        <p:nvSpPr>
          <p:cNvPr id="9" name="footer-page">
            <a:extLst xmlns:a="http://schemas.openxmlformats.org/drawingml/2006/main">
              <a:ext uri="{FF2B5EF4-FFF2-40B4-BE49-F238E27FC236}">
                <a16:creationId xmlns:a16="http://schemas.microsoft.com/office/drawing/2014/main" id="{80CC2195-6E81-4348-ACA4-85B2028CB6BA}"/>
              </a:ext>
            </a:extLst>
          </p:cNvPr>
          <p:cNvSpPr>
            <a:spLocks xmlns:a="http://schemas.openxmlformats.org/drawingml/2006/main" noGrp="1"/>
          </p:cNvSpPr>
          <p:nvPr/>
        </p:nvSpPr>
        <p:spPr>
          <a:xfrm xmlns:a="http://schemas.openxmlformats.org/drawingml/2006/main">
            <a:off x="10953750" y="64008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5F6861"/>
                </a:solidFill>
                <a:latin typeface="Arial"/>
                <a:ea typeface="Arial"/>
                <a:cs typeface="Arial"/>
              </a:defRPr>
            </a:pPr>
            <a:r>
              <a:rPr sz="1350" b="0">
                <a:solidFill>
                  <a:srgbClr val="5F6861"/>
                </a:solidFill>
                <a:latin typeface="Arial"/>
                <a:ea typeface="Arial"/>
                <a:cs typeface="Arial"/>
              </a:rPr>
              <a:t>5 / 8</a:t>
            </a:r>
          </a:p>
        </p:txBody>
      </p:sp>
    </p:spTree>
    <p:extLst>
      <p:ext uri="{BB962C8B-B14F-4D97-AF65-F5344CB8AC3E}">
        <p14:creationId xmlns:p14="http://schemas.microsoft.com/office/powerpoint/2010/main" val="670422406"/>
      </p:ext>
    </p:extLst>
  </p:cSld>
</p:sld>
</file>

<file path=ppt/slides/slide6.xml><?xml version="1.0" encoding="utf-8"?>
<p:sld xmlns:p="http://schemas.openxmlformats.org/presentationml/2006/main">
  <p:cSld>
    <p:bg>
      <p:bgPr>
        <a:solidFill xmlns:a="http://schemas.openxmlformats.org/drawingml/2006/main">
          <a:srgbClr val="17211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00915DFC-21E0-4B0E-A4A1-6BFC03EF83FE}"/>
              </a:ext>
            </a:extLst>
          </p:cNvPr>
          <p:cNvSpPr>
            <a:spLocks xmlns:a="http://schemas.openxmlformats.org/drawingml/2006/main" noGrp="1"/>
          </p:cNvSpPr>
          <p:nvPr/>
        </p:nvSpPr>
        <p:spPr>
          <a:xfrm xmlns:a="http://schemas.openxmlformats.org/drawingml/2006/main">
            <a:off x="685800" y="6096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4125" b="1">
                <a:solidFill>
                  <a:srgbClr val="F6F4ED"/>
                </a:solidFill>
                <a:latin typeface="Arial"/>
                <a:ea typeface="Arial"/>
                <a:cs typeface="Arial"/>
              </a:defRPr>
            </a:pPr>
            <a:r>
              <a:rPr sz="4125" b="1">
                <a:solidFill>
                  <a:srgbClr val="F6F4ED"/>
                </a:solidFill>
                <a:latin typeface="Arial"/>
                <a:ea typeface="Arial"/>
                <a:cs typeface="Arial"/>
              </a:rPr>
              <a:t>La “cassaforte” su Avalanche</a:t>
            </a:r>
          </a:p>
        </p:txBody>
      </p:sp>
      <p:sp>
        <p:nvSpPr>
          <p:cNvPr id="2" name="ask">
            <a:extLst xmlns:a="http://schemas.openxmlformats.org/drawingml/2006/main">
              <a:ext uri="{FF2B5EF4-FFF2-40B4-BE49-F238E27FC236}">
                <a16:creationId xmlns:a16="http://schemas.microsoft.com/office/drawing/2014/main" id="{3C728565-D286-4814-A214-51EC26A5BF2A}"/>
              </a:ext>
            </a:extLst>
          </p:cNvPr>
          <p:cNvSpPr>
            <a:spLocks xmlns:a="http://schemas.openxmlformats.org/drawingml/2006/main" noGrp="1"/>
          </p:cNvSpPr>
          <p:nvPr/>
        </p:nvSpPr>
        <p:spPr>
          <a:xfrm xmlns:a="http://schemas.openxmlformats.org/drawingml/2006/main">
            <a:off x="723900" y="2276475"/>
            <a:ext cx="108204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4650" b="1">
                <a:solidFill>
                  <a:srgbClr val="DE4528"/>
                </a:solidFill>
                <a:latin typeface="Arial"/>
                <a:ea typeface="Arial"/>
                <a:cs typeface="Arial"/>
              </a:defRPr>
            </a:pPr>
            <a:r>
              <a:rPr sz="4650" b="1">
                <a:solidFill>
                  <a:srgbClr val="DE4528"/>
                </a:solidFill>
                <a:latin typeface="Arial"/>
                <a:ea typeface="Arial"/>
                <a:cs typeface="Arial"/>
              </a:rPr>
              <a:t/>
            </a:r>
          </a:p>
        </p:txBody>
      </p:sp>
      <p:sp>
        <p:nvSpPr>
          <p:cNvPr id="3" name="assets">
            <a:extLst xmlns:a="http://schemas.openxmlformats.org/drawingml/2006/main">
              <a:ext uri="{FF2B5EF4-FFF2-40B4-BE49-F238E27FC236}">
                <a16:creationId xmlns:a16="http://schemas.microsoft.com/office/drawing/2014/main" id="{3987BADB-FC2B-4120-B6C1-5B53D7446B74}"/>
              </a:ext>
            </a:extLst>
          </p:cNvPr>
          <p:cNvSpPr>
            <a:spLocks xmlns:a="http://schemas.openxmlformats.org/drawingml/2006/main" noGrp="1"/>
          </p:cNvSpPr>
          <p:nvPr/>
        </p:nvSpPr>
        <p:spPr>
          <a:xfrm xmlns:a="http://schemas.openxmlformats.org/drawingml/2006/main">
            <a:off x="723900" y="5391150"/>
            <a:ext cx="10810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950" b="0">
                <a:solidFill>
                  <a:srgbClr val="F6F4ED"/>
                </a:solidFill>
                <a:latin typeface="Arial"/>
                <a:ea typeface="Arial"/>
                <a:cs typeface="Arial"/>
              </a:defRPr>
            </a:pPr>
            <a:r>
              <a:rPr sz="1950" b="0">
                <a:solidFill>
                  <a:srgbClr val="F6F4ED"/>
                </a:solidFill>
                <a:latin typeface="Arial"/>
                <a:ea typeface="Arial"/>
                <a:cs typeface="Arial"/>
              </a:rPr>
              <a:t>Luca controlla il codice e firma dal pannello.</a:t>
            </a:r>
          </a:p>
          <a:p xmlns:a="http://schemas.openxmlformats.org/drawingml/2006/main">
            <a:pPr>
              <a:buNone/>
              <a:defRPr sz="1950" b="0">
                <a:solidFill>
                  <a:srgbClr val="F6F4ED"/>
                </a:solidFill>
                <a:latin typeface="Arial"/>
                <a:ea typeface="Arial"/>
                <a:cs typeface="Arial"/>
              </a:defRPr>
            </a:pPr>
            <a:r>
              <a:rPr sz="1950" b="0">
                <a:solidFill>
                  <a:srgbClr val="F6F4ED"/>
                </a:solidFill>
                <a:latin typeface="Arial"/>
                <a:ea typeface="Arial"/>
                <a:cs typeface="Arial"/>
              </a:rPr>
              <a:t>La “cassaforte” è un programma che controlla firme e limiti.</a:t>
            </a:r>
          </a:p>
        </p:txBody>
      </p:sp>
      <p:sp>
        <p:nvSpPr>
          <p:cNvPr id="4" name="open-source">
            <a:extLst xmlns:a="http://schemas.openxmlformats.org/drawingml/2006/main">
              <a:ext uri="{FF2B5EF4-FFF2-40B4-BE49-F238E27FC236}">
                <a16:creationId xmlns:a16="http://schemas.microsoft.com/office/drawing/2014/main" id="{A8E178C3-05E0-449C-97DF-8E9FD32CABBD}"/>
              </a:ext>
            </a:extLst>
          </p:cNvPr>
          <p:cNvSpPr>
            <a:spLocks xmlns:a="http://schemas.openxmlformats.org/drawingml/2006/main" noGrp="1"/>
          </p:cNvSpPr>
          <p:nvPr/>
        </p:nvSpPr>
        <p:spPr>
          <a:xfrm xmlns:a="http://schemas.openxmlformats.org/drawingml/2006/main">
            <a:off x="723900" y="5391150"/>
            <a:ext cx="10620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875" b="0">
                <a:solidFill>
                  <a:srgbClr val="5F6861"/>
                </a:solidFill>
                <a:latin typeface="Arial"/>
                <a:ea typeface="Arial"/>
                <a:cs typeface="Arial"/>
              </a:defRPr>
            </a:pPr>
            <a:r>
              <a:rPr sz="1875" b="0">
                <a:solidFill>
                  <a:srgbClr val="5F6861"/>
                </a:solidFill>
                <a:latin typeface="Arial"/>
                <a:ea typeface="Arial"/>
                <a:cs typeface="Arial"/>
              </a:rPr>
              <a:t/>
            </a:r>
          </a:p>
        </p:txBody>
      </p:sp>
      <p:sp>
        <p:nvSpPr>
          <p:cNvPr id="5" name="footer-app">
            <a:extLst xmlns:a="http://schemas.openxmlformats.org/drawingml/2006/main">
              <a:ext uri="{FF2B5EF4-FFF2-40B4-BE49-F238E27FC236}">
                <a16:creationId xmlns:a16="http://schemas.microsoft.com/office/drawing/2014/main" id="{2600B2A8-30BA-48BB-9059-2E930555C0D3}"/>
              </a:ext>
            </a:extLst>
          </p:cNvPr>
          <p:cNvSpPr>
            <a:spLocks xmlns:a="http://schemas.openxmlformats.org/drawingml/2006/main" noGrp="1"/>
          </p:cNvSpPr>
          <p:nvPr/>
        </p:nvSpPr>
        <p:spPr>
          <a:xfrm xmlns:a="http://schemas.openxmlformats.org/drawingml/2006/main">
            <a:off x="68580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F6F4ED"/>
                </a:solidFill>
                <a:latin typeface="Arial"/>
                <a:ea typeface="Arial"/>
                <a:cs typeface="Arial"/>
              </a:defRPr>
            </a:pPr>
            <a:r>
              <a:rPr sz="1350" b="0">
                <a:solidFill>
                  <a:srgbClr val="F6F4ED"/>
                </a:solidFill>
                <a:latin typeface="Arial"/>
                <a:ea typeface="Arial"/>
                <a:cs typeface="Arial"/>
                <a:hlinkClick xmlns:r="http://schemas.openxmlformats.org/officeDocument/2006/relationships" r:id="Ra10c2e60565542de"/>
              </a:rPr>
              <a:t>Apri Food Arena</a:t>
            </a:r>
          </a:p>
        </p:txBody>
      </p:sp>
      <p:sp>
        <p:nvSpPr>
          <p:cNvPr id="6" name="footer-repo">
            <a:extLst xmlns:a="http://schemas.openxmlformats.org/drawingml/2006/main">
              <a:ext uri="{FF2B5EF4-FFF2-40B4-BE49-F238E27FC236}">
                <a16:creationId xmlns:a16="http://schemas.microsoft.com/office/drawing/2014/main" id="{C6A73989-2875-4BFB-9156-57AAB1FB55F7}"/>
              </a:ext>
            </a:extLst>
          </p:cNvPr>
          <p:cNvSpPr>
            <a:spLocks xmlns:a="http://schemas.openxmlformats.org/drawingml/2006/main" noGrp="1"/>
          </p:cNvSpPr>
          <p:nvPr/>
        </p:nvSpPr>
        <p:spPr>
          <a:xfrm xmlns:a="http://schemas.openxmlformats.org/drawingml/2006/main">
            <a:off x="310515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F6F4ED"/>
                </a:solidFill>
                <a:latin typeface="Arial"/>
                <a:ea typeface="Arial"/>
                <a:cs typeface="Arial"/>
              </a:defRPr>
            </a:pPr>
            <a:r>
              <a:rPr sz="1350" b="0">
                <a:solidFill>
                  <a:srgbClr val="F6F4ED"/>
                </a:solidFill>
                <a:latin typeface="Arial"/>
                <a:ea typeface="Arial"/>
                <a:cs typeface="Arial"/>
                <a:hlinkClick xmlns:r="http://schemas.openxmlformats.org/officeDocument/2006/relationships" r:id="Rfa2feec7888f4869"/>
              </a:rPr>
              <a:t>Codice GitHub</a:t>
            </a:r>
          </a:p>
        </p:txBody>
      </p:sp>
      <p:sp>
        <p:nvSpPr>
          <p:cNvPr id="7" name="footer-proof">
            <a:extLst xmlns:a="http://schemas.openxmlformats.org/drawingml/2006/main">
              <a:ext uri="{FF2B5EF4-FFF2-40B4-BE49-F238E27FC236}">
                <a16:creationId xmlns:a16="http://schemas.microsoft.com/office/drawing/2014/main" id="{447B2F8E-E59E-4084-AF0F-D3ECB1CF9F0F}"/>
              </a:ext>
            </a:extLst>
          </p:cNvPr>
          <p:cNvSpPr>
            <a:spLocks xmlns:a="http://schemas.openxmlformats.org/drawingml/2006/main" noGrp="1"/>
          </p:cNvSpPr>
          <p:nvPr/>
        </p:nvSpPr>
        <p:spPr>
          <a:xfrm xmlns:a="http://schemas.openxmlformats.org/drawingml/2006/main">
            <a:off x="5429250" y="64008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F6F4ED"/>
                </a:solidFill>
                <a:latin typeface="Arial"/>
                <a:ea typeface="Arial"/>
                <a:cs typeface="Arial"/>
              </a:defRPr>
            </a:pPr>
            <a:r>
              <a:rPr sz="1350" b="0">
                <a:solidFill>
                  <a:srgbClr val="F6F4ED"/>
                </a:solidFill>
                <a:latin typeface="Arial"/>
                <a:ea typeface="Arial"/>
                <a:cs typeface="Arial"/>
                <a:hlinkClick xmlns:r="http://schemas.openxmlformats.org/officeDocument/2006/relationships" r:id="R0a04f06b94f94aee"/>
              </a:rPr>
              <a:t>Prove Avalanche</a:t>
            </a:r>
          </a:p>
        </p:txBody>
      </p:sp>
      <p:sp>
        <p:nvSpPr>
          <p:cNvPr id="8" name="footer-page">
            <a:extLst xmlns:a="http://schemas.openxmlformats.org/drawingml/2006/main">
              <a:ext uri="{FF2B5EF4-FFF2-40B4-BE49-F238E27FC236}">
                <a16:creationId xmlns:a16="http://schemas.microsoft.com/office/drawing/2014/main" id="{48E3DC19-5EAB-4BCC-87B0-CD77027A0487}"/>
              </a:ext>
            </a:extLst>
          </p:cNvPr>
          <p:cNvSpPr>
            <a:spLocks xmlns:a="http://schemas.openxmlformats.org/drawingml/2006/main" noGrp="1"/>
          </p:cNvSpPr>
          <p:nvPr/>
        </p:nvSpPr>
        <p:spPr>
          <a:xfrm xmlns:a="http://schemas.openxmlformats.org/drawingml/2006/main">
            <a:off x="10953750" y="64008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buNone/>
              <a:defRPr sz="1350" b="0">
                <a:solidFill>
                  <a:srgbClr val="F6F4ED"/>
                </a:solidFill>
                <a:latin typeface="Arial"/>
                <a:ea typeface="Arial"/>
                <a:cs typeface="Arial"/>
              </a:defRPr>
            </a:pPr>
            <a:r>
              <a:rPr sz="1350" b="0">
                <a:solidFill>
                  <a:srgbClr val="F6F4ED"/>
                </a:solidFill>
                <a:latin typeface="Arial"/>
                <a:ea typeface="Arial"/>
                <a:cs typeface="Arial"/>
              </a:rPr>
              <a:t>6 / 8</a:t>
            </a:r>
          </a:p>
        </p:txBody>
      </p:sp>
      <p:sp>
        <p:nvSpPr>
          <p:cNvPr id="10" name="stage-0">
            <a:extLst xmlns:a="http://schemas.openxmlformats.org/drawingml/2006/main">
              <a:ext uri="{FF2B5EF4-FFF2-40B4-BE49-F238E27FC236}">
                <a16:creationId xmlns:a16="http://schemas.microsoft.com/office/drawing/2014/main" id="{3EB7213C-3CA9-411E-B621-D3CA62A723EC}"/>
              </a:ext>
            </a:extLst>
          </p:cNvPr>
          <p:cNvSpPr>
            <a:spLocks xmlns:a="http://schemas.openxmlformats.org/drawingml/2006/main" noGrp="1"/>
          </p:cNvSpPr>
          <p:nvPr/>
        </p:nvSpPr>
        <p:spPr>
          <a:xfrm xmlns:a="http://schemas.openxmlformats.org/drawingml/2006/main">
            <a:off x="723900" y="2314575"/>
            <a:ext cx="4000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EAFF78"/>
                </a:solidFill>
                <a:latin typeface="Arial"/>
                <a:ea typeface="Arial"/>
                <a:cs typeface="Arial"/>
              </a:defRPr>
            </a:pPr>
            <a:r>
              <a:rPr sz="2400" b="1">
                <a:solidFill>
                  <a:srgbClr val="EAFF78"/>
                </a:solidFill>
                <a:latin typeface="Arial"/>
                <a:ea typeface="Arial"/>
                <a:cs typeface="Arial"/>
              </a:rPr>
              <a:t>Anna sceglie</a:t>
            </a:r>
          </a:p>
        </p:txBody>
      </p:sp>
      <p:sp>
        <p:nvSpPr>
          <p:cNvPr id="11" name="action-0">
            <a:extLst xmlns:a="http://schemas.openxmlformats.org/drawingml/2006/main">
              <a:ext uri="{FF2B5EF4-FFF2-40B4-BE49-F238E27FC236}">
                <a16:creationId xmlns:a16="http://schemas.microsoft.com/office/drawing/2014/main" id="{84C00259-BE5B-4ED5-A7C8-89F20DDB4F59}"/>
              </a:ext>
            </a:extLst>
          </p:cNvPr>
          <p:cNvSpPr>
            <a:spLocks xmlns:a="http://schemas.openxmlformats.org/drawingml/2006/main" noGrp="1"/>
          </p:cNvSpPr>
          <p:nvPr/>
        </p:nvSpPr>
        <p:spPr>
          <a:xfrm xmlns:a="http://schemas.openxmlformats.org/drawingml/2006/main">
            <a:off x="5248275" y="2314575"/>
            <a:ext cx="647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F6F4ED"/>
                </a:solidFill>
                <a:latin typeface="Arial"/>
                <a:ea typeface="Arial"/>
                <a:cs typeface="Arial"/>
              </a:defRPr>
            </a:pPr>
            <a:r>
              <a:rPr sz="2325" b="0">
                <a:solidFill>
                  <a:srgbClr val="F6F4ED"/>
                </a:solidFill>
                <a:latin typeface="Arial"/>
                <a:ea typeface="Arial"/>
                <a:cs typeface="Arial"/>
              </a:rPr>
              <a:t>Riserva la commissione.</a:t>
            </a:r>
          </a:p>
        </p:txBody>
      </p:sp>
      <p:sp>
        <p:nvSpPr>
          <p:cNvPr id="12" name="stage-1">
            <a:extLst xmlns:a="http://schemas.openxmlformats.org/drawingml/2006/main">
              <a:ext uri="{FF2B5EF4-FFF2-40B4-BE49-F238E27FC236}">
                <a16:creationId xmlns:a16="http://schemas.microsoft.com/office/drawing/2014/main" id="{5B3ACBA6-E2E2-40B2-83F3-EBE36FE605E6}"/>
              </a:ext>
            </a:extLst>
          </p:cNvPr>
          <p:cNvSpPr>
            <a:spLocks xmlns:a="http://schemas.openxmlformats.org/drawingml/2006/main" noGrp="1"/>
          </p:cNvSpPr>
          <p:nvPr/>
        </p:nvSpPr>
        <p:spPr>
          <a:xfrm xmlns:a="http://schemas.openxmlformats.org/drawingml/2006/main">
            <a:off x="723900" y="3286125"/>
            <a:ext cx="4000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EAFF78"/>
                </a:solidFill>
                <a:latin typeface="Arial"/>
                <a:ea typeface="Arial"/>
                <a:cs typeface="Arial"/>
              </a:defRPr>
            </a:pPr>
            <a:r>
              <a:rPr sz="2400" b="1">
                <a:solidFill>
                  <a:srgbClr val="EAFF78"/>
                </a:solidFill>
                <a:latin typeface="Arial"/>
                <a:ea typeface="Arial"/>
                <a:cs typeface="Arial"/>
              </a:rPr>
              <a:t>Luca conferma il ritiro</a:t>
            </a:r>
          </a:p>
        </p:txBody>
      </p:sp>
      <p:sp>
        <p:nvSpPr>
          <p:cNvPr id="13" name="action-1">
            <a:extLst xmlns:a="http://schemas.openxmlformats.org/drawingml/2006/main">
              <a:ext uri="{FF2B5EF4-FFF2-40B4-BE49-F238E27FC236}">
                <a16:creationId xmlns:a16="http://schemas.microsoft.com/office/drawing/2014/main" id="{71634720-7693-492C-B0EB-E6C5B85FAC56}"/>
              </a:ext>
            </a:extLst>
          </p:cNvPr>
          <p:cNvSpPr>
            <a:spLocks xmlns:a="http://schemas.openxmlformats.org/drawingml/2006/main" noGrp="1"/>
          </p:cNvSpPr>
          <p:nvPr/>
        </p:nvSpPr>
        <p:spPr>
          <a:xfrm xmlns:a="http://schemas.openxmlformats.org/drawingml/2006/main">
            <a:off x="5248275" y="3286125"/>
            <a:ext cx="647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F6F4ED"/>
                </a:solidFill>
                <a:latin typeface="Arial"/>
                <a:ea typeface="Arial"/>
                <a:cs typeface="Arial"/>
              </a:defRPr>
            </a:pPr>
            <a:r>
              <a:rPr sz="2325" b="0">
                <a:solidFill>
                  <a:srgbClr val="F6F4ED"/>
                </a:solidFill>
                <a:latin typeface="Arial"/>
                <a:ea typeface="Arial"/>
                <a:cs typeface="Arial"/>
              </a:rPr>
              <a:t>Accredita Food Arena una sola volta.</a:t>
            </a:r>
          </a:p>
        </p:txBody>
      </p:sp>
      <p:sp>
        <p:nvSpPr>
          <p:cNvPr id="14" name="stage-2">
            <a:extLst xmlns:a="http://schemas.openxmlformats.org/drawingml/2006/main">
              <a:ext uri="{FF2B5EF4-FFF2-40B4-BE49-F238E27FC236}">
                <a16:creationId xmlns:a16="http://schemas.microsoft.com/office/drawing/2014/main" id="{9EF7473D-AB2A-4F3B-BE4E-66FEAF7838D7}"/>
              </a:ext>
            </a:extLst>
          </p:cNvPr>
          <p:cNvSpPr>
            <a:spLocks xmlns:a="http://schemas.openxmlformats.org/drawingml/2006/main" noGrp="1"/>
          </p:cNvSpPr>
          <p:nvPr/>
        </p:nvSpPr>
        <p:spPr>
          <a:xfrm xmlns:a="http://schemas.openxmlformats.org/drawingml/2006/main">
            <a:off x="723900" y="4257675"/>
            <a:ext cx="4000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EAFF78"/>
                </a:solidFill>
                <a:latin typeface="Arial"/>
                <a:ea typeface="Arial"/>
                <a:cs typeface="Arial"/>
              </a:defRPr>
            </a:pPr>
            <a:r>
              <a:rPr sz="2400" b="1">
                <a:solidFill>
                  <a:srgbClr val="EAFF78"/>
                </a:solidFill>
                <a:latin typeface="Arial"/>
                <a:ea typeface="Arial"/>
                <a:cs typeface="Arial"/>
              </a:rPr>
              <a:t>Se Anna non ritira</a:t>
            </a:r>
          </a:p>
        </p:txBody>
      </p:sp>
      <p:sp>
        <p:nvSpPr>
          <p:cNvPr id="15" name="action-2">
            <a:extLst xmlns:a="http://schemas.openxmlformats.org/drawingml/2006/main">
              <a:ext uri="{FF2B5EF4-FFF2-40B4-BE49-F238E27FC236}">
                <a16:creationId xmlns:a16="http://schemas.microsoft.com/office/drawing/2014/main" id="{DA6B1617-1376-4366-9F41-D3550C268C23}"/>
              </a:ext>
            </a:extLst>
          </p:cNvPr>
          <p:cNvSpPr>
            <a:spLocks xmlns:a="http://schemas.openxmlformats.org/drawingml/2006/main" noGrp="1"/>
          </p:cNvSpPr>
          <p:nvPr/>
        </p:nvSpPr>
        <p:spPr>
          <a:xfrm xmlns:a="http://schemas.openxmlformats.org/drawingml/2006/main">
            <a:off x="5248275" y="4257675"/>
            <a:ext cx="647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F6F4ED"/>
                </a:solidFill>
                <a:latin typeface="Arial"/>
                <a:ea typeface="Arial"/>
                <a:cs typeface="Arial"/>
              </a:defRPr>
            </a:pPr>
            <a:r>
              <a:rPr sz="2325" b="0">
                <a:solidFill>
                  <a:srgbClr val="F6F4ED"/>
                </a:solidFill>
                <a:latin typeface="Arial"/>
                <a:ea typeface="Arial"/>
                <a:cs typeface="Arial"/>
              </a:rPr>
              <a:t>Alla scadenza, una transazione libera la riserva.</a:t>
            </a:r>
          </a:p>
        </p:txBody>
      </p:sp>
    </p:spTree>
    <p:extLst>
      <p:ext uri="{BB962C8B-B14F-4D97-AF65-F5344CB8AC3E}">
        <p14:creationId xmlns:p14="http://schemas.microsoft.com/office/powerpoint/2010/main" val="888567398"/>
      </p:ext>
    </p:extLst>
  </p:cSld>
</p:sld>
</file>

<file path=ppt/slides/slide7.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9" name="footer-app">
            <a:extLst xmlns:a="http://schemas.openxmlformats.org/drawingml/2006/main">
              <a:ext uri="{FF2B5EF4-FFF2-40B4-BE49-F238E27FC236}">
                <a16:creationId xmlns:a16="http://schemas.microsoft.com/office/drawing/2014/main" id="{17A93719-09F2-4E2A-9396-AA5D5C15D4BD}"/>
              </a:ext>
            </a:extLst>
          </p:cNvPr>
          <p:cNvSpPr>
            <a:spLocks xmlns:a="http://schemas.openxmlformats.org/drawingml/2006/main" noGrp="1"/>
          </p:cNvSpPr>
          <p:nvPr/>
        </p:nvSpPr>
        <p:spPr>
          <a:xfrm xmlns:a="http://schemas.openxmlformats.org/drawingml/2006/main">
            <a:off x="68580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65017007f240477a"/>
              </a:rPr>
              <a:t>Apri Food Arena</a:t>
            </a:r>
          </a:p>
        </p:txBody>
      </p:sp>
      <p:sp>
        <p:nvSpPr>
          <p:cNvPr id="2" name="footer-repo">
            <a:extLst xmlns:a="http://schemas.openxmlformats.org/drawingml/2006/main">
              <a:ext uri="{FF2B5EF4-FFF2-40B4-BE49-F238E27FC236}">
                <a16:creationId xmlns:a16="http://schemas.microsoft.com/office/drawing/2014/main" id="{1E77973F-2847-4F73-A244-13CF4E7BEB4E}"/>
              </a:ext>
            </a:extLst>
          </p:cNvPr>
          <p:cNvSpPr>
            <a:spLocks xmlns:a="http://schemas.openxmlformats.org/drawingml/2006/main" noGrp="1"/>
          </p:cNvSpPr>
          <p:nvPr/>
        </p:nvSpPr>
        <p:spPr>
          <a:xfrm xmlns:a="http://schemas.openxmlformats.org/drawingml/2006/main">
            <a:off x="310515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604636bfc4a04f87"/>
              </a:rPr>
              <a:t>Codice GitHub</a:t>
            </a:r>
          </a:p>
        </p:txBody>
      </p:sp>
      <p:sp>
        <p:nvSpPr>
          <p:cNvPr id="3" name="footer-proof">
            <a:extLst xmlns:a="http://schemas.openxmlformats.org/drawingml/2006/main">
              <a:ext uri="{FF2B5EF4-FFF2-40B4-BE49-F238E27FC236}">
                <a16:creationId xmlns:a16="http://schemas.microsoft.com/office/drawing/2014/main" id="{5BE9B91C-0FFC-461F-9E25-C5677FBAA750}"/>
              </a:ext>
            </a:extLst>
          </p:cNvPr>
          <p:cNvSpPr>
            <a:spLocks xmlns:a="http://schemas.openxmlformats.org/drawingml/2006/main" noGrp="1"/>
          </p:cNvSpPr>
          <p:nvPr/>
        </p:nvSpPr>
        <p:spPr>
          <a:xfrm xmlns:a="http://schemas.openxmlformats.org/drawingml/2006/main">
            <a:off x="5429250" y="64008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ee618621edf54c8c"/>
              </a:rPr>
              <a:t>Prove Avalanche</a:t>
            </a:r>
          </a:p>
        </p:txBody>
      </p:sp>
      <p:sp>
        <p:nvSpPr>
          <p:cNvPr id="4" name="footer-page">
            <a:extLst xmlns:a="http://schemas.openxmlformats.org/drawingml/2006/main">
              <a:ext uri="{FF2B5EF4-FFF2-40B4-BE49-F238E27FC236}">
                <a16:creationId xmlns:a16="http://schemas.microsoft.com/office/drawing/2014/main" id="{BD7CD2DC-3E14-4F2A-B6BF-79D3A4F742D8}"/>
              </a:ext>
            </a:extLst>
          </p:cNvPr>
          <p:cNvSpPr>
            <a:spLocks xmlns:a="http://schemas.openxmlformats.org/drawingml/2006/main" noGrp="1"/>
          </p:cNvSpPr>
          <p:nvPr/>
        </p:nvSpPr>
        <p:spPr>
          <a:xfrm xmlns:a="http://schemas.openxmlformats.org/drawingml/2006/main">
            <a:off x="10953750" y="64008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F6861"/>
                </a:solidFill>
                <a:latin typeface="Arial"/>
                <a:ea typeface="Arial"/>
                <a:cs typeface="Arial"/>
              </a:defRPr>
            </a:pPr>
            <a:r>
              <a:rPr sz="1350" b="0">
                <a:solidFill>
                  <a:srgbClr val="5F6861"/>
                </a:solidFill>
                <a:latin typeface="Arial"/>
                <a:ea typeface="Arial"/>
                <a:cs typeface="Arial"/>
              </a:rPr>
              <a:t>7 / 8</a:t>
            </a:r>
          </a:p>
        </p:txBody>
      </p:sp>
      <p:sp>
        <p:nvSpPr>
          <p:cNvPr id="5" name="title">
            <a:extLst xmlns:a="http://schemas.openxmlformats.org/drawingml/2006/main">
              <a:ext uri="{FF2B5EF4-FFF2-40B4-BE49-F238E27FC236}">
                <a16:creationId xmlns:a16="http://schemas.microsoft.com/office/drawing/2014/main" id="{40A57999-7D96-43EA-872A-027F54F8C3DD}"/>
              </a:ext>
            </a:extLst>
          </p:cNvPr>
          <p:cNvSpPr>
            <a:spLocks xmlns:a="http://schemas.openxmlformats.org/drawingml/2006/main" noGrp="1"/>
          </p:cNvSpPr>
          <p:nvPr/>
        </p:nvSpPr>
        <p:spPr>
          <a:xfrm xmlns:a="http://schemas.openxmlformats.org/drawingml/2006/main">
            <a:off x="685800" y="6096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17211F"/>
                </a:solidFill>
                <a:latin typeface="Arial"/>
                <a:ea typeface="Arial"/>
                <a:cs typeface="Arial"/>
              </a:defRPr>
            </a:pPr>
            <a:r>
              <a:rPr sz="4050" b="1">
                <a:solidFill>
                  <a:srgbClr val="17211F"/>
                </a:solidFill>
                <a:latin typeface="Arial"/>
                <a:ea typeface="Arial"/>
                <a:cs typeface="Arial"/>
              </a:rPr>
              <a:t>La demo è già disponibile</a:t>
            </a:r>
          </a:p>
        </p:txBody>
      </p:sp>
      <p:sp>
        <p:nvSpPr>
          <p:cNvPr id="6" name="demo">
            <a:extLst xmlns:a="http://schemas.openxmlformats.org/drawingml/2006/main">
              <a:ext uri="{FF2B5EF4-FFF2-40B4-BE49-F238E27FC236}">
                <a16:creationId xmlns:a16="http://schemas.microsoft.com/office/drawing/2014/main" id="{8891613C-D76F-476B-B3A6-77188BCC1612}"/>
              </a:ext>
            </a:extLst>
          </p:cNvPr>
          <p:cNvSpPr>
            <a:spLocks xmlns:a="http://schemas.openxmlformats.org/drawingml/2006/main" noGrp="1"/>
          </p:cNvSpPr>
          <p:nvPr/>
        </p:nvSpPr>
        <p:spPr>
          <a:xfrm xmlns:a="http://schemas.openxmlformats.org/drawingml/2006/main">
            <a:off x="723900" y="2171700"/>
            <a:ext cx="10572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800" b="1">
                <a:solidFill>
                  <a:srgbClr val="DE4528"/>
                </a:solidFill>
                <a:latin typeface="Arial"/>
                <a:ea typeface="Arial"/>
                <a:cs typeface="Arial"/>
              </a:defRPr>
            </a:pPr>
            <a:r>
              <a:rPr sz="4800" b="1">
                <a:solidFill>
                  <a:srgbClr val="DE4528"/>
                </a:solidFill>
                <a:latin typeface="Arial"/>
                <a:ea typeface="Arial"/>
                <a:cs typeface="Arial"/>
              </a:rPr>
              <a:t>Richiesta, offerte, scelta</a:t>
            </a:r>
          </a:p>
          <a:p xmlns:a="http://schemas.openxmlformats.org/drawingml/2006/main">
            <a:pPr>
              <a:defRPr sz="4800" b="1">
                <a:solidFill>
                  <a:srgbClr val="DE4528"/>
                </a:solidFill>
                <a:latin typeface="Arial"/>
                <a:ea typeface="Arial"/>
                <a:cs typeface="Arial"/>
              </a:defRPr>
            </a:pPr>
            <a:r>
              <a:rPr sz="4800" b="1">
                <a:solidFill>
                  <a:srgbClr val="DE4528"/>
                </a:solidFill>
                <a:latin typeface="Arial"/>
                <a:ea typeface="Arial"/>
                <a:cs typeface="Arial"/>
              </a:rPr>
              <a:t>e ritiro simulato</a:t>
            </a:r>
          </a:p>
        </p:txBody>
      </p:sp>
      <p:sp>
        <p:nvSpPr>
          <p:cNvPr id="7" name="chain-proof">
            <a:extLst xmlns:a="http://schemas.openxmlformats.org/drawingml/2006/main">
              <a:ext uri="{FF2B5EF4-FFF2-40B4-BE49-F238E27FC236}">
                <a16:creationId xmlns:a16="http://schemas.microsoft.com/office/drawing/2014/main" id="{94EDAD0E-77BE-48DA-BEAF-F582B9B81F5F}"/>
              </a:ext>
            </a:extLst>
          </p:cNvPr>
          <p:cNvSpPr>
            <a:spLocks xmlns:a="http://schemas.openxmlformats.org/drawingml/2006/main" noGrp="1"/>
          </p:cNvSpPr>
          <p:nvPr/>
        </p:nvSpPr>
        <p:spPr>
          <a:xfrm xmlns:a="http://schemas.openxmlformats.org/drawingml/2006/main">
            <a:off x="723900" y="41814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0">
                <a:solidFill>
                  <a:srgbClr val="17211F"/>
                </a:solidFill>
                <a:latin typeface="Arial"/>
                <a:ea typeface="Arial"/>
                <a:cs typeface="Arial"/>
              </a:defRPr>
            </a:pPr>
            <a:r>
              <a:rPr sz="2400" b="0">
                <a:solidFill>
                  <a:srgbClr val="17211F"/>
                </a:solidFill>
                <a:latin typeface="Arial"/>
                <a:ea typeface="Arial"/>
                <a:cs typeface="Arial"/>
              </a:rPr>
              <a:t>Transazioni reali sulla rete di prova Avalanche Fuji.</a:t>
            </a:r>
          </a:p>
          <a:p xmlns:a="http://schemas.openxmlformats.org/drawingml/2006/main">
            <a:pPr>
              <a:defRPr sz="2400" b="0">
                <a:solidFill>
                  <a:srgbClr val="17211F"/>
                </a:solidFill>
                <a:latin typeface="Arial"/>
                <a:ea typeface="Arial"/>
                <a:cs typeface="Arial"/>
              </a:defRPr>
            </a:pPr>
            <a:r>
              <a:rPr sz="2400" b="0">
                <a:solidFill>
                  <a:srgbClr val="17211F"/>
                </a:solidFill>
                <a:latin typeface="Arial"/>
                <a:ea typeface="Arial"/>
                <a:cs typeface="Arial"/>
              </a:rPr>
              <a:t>Codice pubblico con licenza MIT.</a:t>
            </a:r>
          </a:p>
        </p:txBody>
      </p:sp>
      <p:sp>
        <p:nvSpPr>
          <p:cNvPr id="8" name="boundary">
            <a:extLst xmlns:a="http://schemas.openxmlformats.org/drawingml/2006/main">
              <a:ext uri="{FF2B5EF4-FFF2-40B4-BE49-F238E27FC236}">
                <a16:creationId xmlns:a16="http://schemas.microsoft.com/office/drawing/2014/main" id="{191E25DA-C485-442D-82B9-4E227C9F2506}"/>
              </a:ext>
            </a:extLst>
          </p:cNvPr>
          <p:cNvSpPr>
            <a:spLocks xmlns:a="http://schemas.openxmlformats.org/drawingml/2006/main" noGrp="1"/>
          </p:cNvSpPr>
          <p:nvPr/>
        </p:nvSpPr>
        <p:spPr>
          <a:xfrm xmlns:a="http://schemas.openxmlformats.org/drawingml/2006/main">
            <a:off x="723900" y="539115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F6861"/>
                </a:solidFill>
                <a:latin typeface="Arial"/>
                <a:ea typeface="Arial"/>
                <a:cs typeface="Arial"/>
              </a:defRPr>
            </a:pPr>
            <a:r>
              <a:rPr sz="1950" b="0">
                <a:solidFill>
                  <a:srgbClr val="5F6861"/>
                </a:solidFill>
                <a:latin typeface="Arial"/>
                <a:ea typeface="Arial"/>
                <a:cs typeface="Arial"/>
              </a:rPr>
              <a:t>I locali della demo sono fittizi. Nessun pranzo o denaro reale.</a:t>
            </a:r>
          </a:p>
          <a:p xmlns:a="http://schemas.openxmlformats.org/drawingml/2006/main">
            <a:pPr>
              <a:defRPr sz="1950" b="0">
                <a:solidFill>
                  <a:srgbClr val="5F6861"/>
                </a:solidFill>
                <a:latin typeface="Arial"/>
                <a:ea typeface="Arial"/>
                <a:cs typeface="Arial"/>
              </a:defRPr>
            </a:pPr>
            <a:r>
              <a:rPr sz="1950" b="0">
                <a:solidFill>
                  <a:srgbClr val="5F6861"/>
                </a:solidFill>
                <a:latin typeface="Arial"/>
                <a:ea typeface="Arial"/>
                <a:cs typeface="Arial"/>
              </a:rPr>
              <a:t>Il passaggio ai pagamenti reali resta da realizzare.</a:t>
            </a:r>
          </a:p>
        </p:txBody>
      </p:sp>
    </p:spTree>
    <p:extLst>
      <p:ext uri="{BB962C8B-B14F-4D97-AF65-F5344CB8AC3E}">
        <p14:creationId xmlns:p14="http://schemas.microsoft.com/office/powerpoint/2010/main" val="632777914"/>
      </p:ext>
    </p:extLst>
  </p:cSld>
</p:sld>
</file>

<file path=ppt/slides/slide8.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9" name="footer-app">
            <a:extLst xmlns:a="http://schemas.openxmlformats.org/drawingml/2006/main">
              <a:ext uri="{FF2B5EF4-FFF2-40B4-BE49-F238E27FC236}">
                <a16:creationId xmlns:a16="http://schemas.microsoft.com/office/drawing/2014/main" id="{DE74DC19-14F3-4DC4-8767-E986511694E9}"/>
              </a:ext>
            </a:extLst>
          </p:cNvPr>
          <p:cNvSpPr>
            <a:spLocks xmlns:a="http://schemas.openxmlformats.org/drawingml/2006/main" noGrp="1"/>
          </p:cNvSpPr>
          <p:nvPr/>
        </p:nvSpPr>
        <p:spPr>
          <a:xfrm xmlns:a="http://schemas.openxmlformats.org/drawingml/2006/main">
            <a:off x="68580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c6bf222a6add4943"/>
              </a:rPr>
              <a:t>Apri Food Arena</a:t>
            </a:r>
          </a:p>
        </p:txBody>
      </p:sp>
      <p:sp>
        <p:nvSpPr>
          <p:cNvPr id="2" name="footer-repo">
            <a:extLst xmlns:a="http://schemas.openxmlformats.org/drawingml/2006/main">
              <a:ext uri="{FF2B5EF4-FFF2-40B4-BE49-F238E27FC236}">
                <a16:creationId xmlns:a16="http://schemas.microsoft.com/office/drawing/2014/main" id="{A13D88C4-CB7A-42F1-A712-2F1CC62417D0}"/>
              </a:ext>
            </a:extLst>
          </p:cNvPr>
          <p:cNvSpPr>
            <a:spLocks xmlns:a="http://schemas.openxmlformats.org/drawingml/2006/main" noGrp="1"/>
          </p:cNvSpPr>
          <p:nvPr/>
        </p:nvSpPr>
        <p:spPr>
          <a:xfrm xmlns:a="http://schemas.openxmlformats.org/drawingml/2006/main">
            <a:off x="3105150" y="64008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cf91fdd02c10484a"/>
              </a:rPr>
              <a:t>Codice GitHub</a:t>
            </a:r>
          </a:p>
        </p:txBody>
      </p:sp>
      <p:sp>
        <p:nvSpPr>
          <p:cNvPr id="3" name="footer-proof">
            <a:extLst xmlns:a="http://schemas.openxmlformats.org/drawingml/2006/main">
              <a:ext uri="{FF2B5EF4-FFF2-40B4-BE49-F238E27FC236}">
                <a16:creationId xmlns:a16="http://schemas.microsoft.com/office/drawing/2014/main" id="{B7ADB865-503D-428F-B0A6-95B1CD08E728}"/>
              </a:ext>
            </a:extLst>
          </p:cNvPr>
          <p:cNvSpPr>
            <a:spLocks xmlns:a="http://schemas.openxmlformats.org/drawingml/2006/main" noGrp="1"/>
          </p:cNvSpPr>
          <p:nvPr/>
        </p:nvSpPr>
        <p:spPr>
          <a:xfrm xmlns:a="http://schemas.openxmlformats.org/drawingml/2006/main">
            <a:off x="5429250" y="64008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F6861"/>
                </a:solidFill>
                <a:latin typeface="Arial"/>
                <a:ea typeface="Arial"/>
                <a:cs typeface="Arial"/>
              </a:defRPr>
            </a:pPr>
            <a:r>
              <a:rPr sz="1350" b="0">
                <a:solidFill>
                  <a:srgbClr val="5F6861"/>
                </a:solidFill>
                <a:latin typeface="Arial"/>
                <a:ea typeface="Arial"/>
                <a:cs typeface="Arial"/>
                <a:hlinkClick xmlns:r="http://schemas.openxmlformats.org/officeDocument/2006/relationships" r:id="R0773e52fc0584bf4"/>
              </a:rPr>
              <a:t>Prove Avalanche</a:t>
            </a:r>
          </a:p>
        </p:txBody>
      </p:sp>
      <p:sp>
        <p:nvSpPr>
          <p:cNvPr id="4" name="footer-page">
            <a:extLst xmlns:a="http://schemas.openxmlformats.org/drawingml/2006/main">
              <a:ext uri="{FF2B5EF4-FFF2-40B4-BE49-F238E27FC236}">
                <a16:creationId xmlns:a16="http://schemas.microsoft.com/office/drawing/2014/main" id="{68FE0FC4-E80D-440F-9D07-02ECDA347AFA}"/>
              </a:ext>
            </a:extLst>
          </p:cNvPr>
          <p:cNvSpPr>
            <a:spLocks xmlns:a="http://schemas.openxmlformats.org/drawingml/2006/main" noGrp="1"/>
          </p:cNvSpPr>
          <p:nvPr/>
        </p:nvSpPr>
        <p:spPr>
          <a:xfrm xmlns:a="http://schemas.openxmlformats.org/drawingml/2006/main">
            <a:off x="10953750" y="6400800"/>
            <a:ext cx="68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F6861"/>
                </a:solidFill>
                <a:latin typeface="Arial"/>
                <a:ea typeface="Arial"/>
                <a:cs typeface="Arial"/>
              </a:defRPr>
            </a:pPr>
            <a:r>
              <a:rPr sz="1350" b="0">
                <a:solidFill>
                  <a:srgbClr val="5F6861"/>
                </a:solidFill>
                <a:latin typeface="Arial"/>
                <a:ea typeface="Arial"/>
                <a:cs typeface="Arial"/>
              </a:rPr>
              <a:t>8 / 8</a:t>
            </a:r>
          </a:p>
        </p:txBody>
      </p:sp>
      <p:sp>
        <p:nvSpPr>
          <p:cNvPr id="5" name="title">
            <a:extLst xmlns:a="http://schemas.openxmlformats.org/drawingml/2006/main">
              <a:ext uri="{FF2B5EF4-FFF2-40B4-BE49-F238E27FC236}">
                <a16:creationId xmlns:a16="http://schemas.microsoft.com/office/drawing/2014/main" id="{816FC177-C227-465E-80DF-63D0787622E0}"/>
              </a:ext>
            </a:extLst>
          </p:cNvPr>
          <p:cNvSpPr>
            <a:spLocks xmlns:a="http://schemas.openxmlformats.org/drawingml/2006/main" noGrp="1"/>
          </p:cNvSpPr>
          <p:nvPr/>
        </p:nvSpPr>
        <p:spPr>
          <a:xfrm xmlns:a="http://schemas.openxmlformats.org/drawingml/2006/main">
            <a:off x="685800" y="6096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17211F"/>
                </a:solidFill>
                <a:latin typeface="Arial"/>
                <a:ea typeface="Arial"/>
                <a:cs typeface="Arial"/>
              </a:defRPr>
            </a:pPr>
            <a:r>
              <a:rPr sz="4050" b="1">
                <a:solidFill>
                  <a:srgbClr val="17211F"/>
                </a:solidFill>
                <a:latin typeface="Arial"/>
                <a:ea typeface="Arial"/>
                <a:cs typeface="Arial"/>
              </a:rPr>
              <a:t>Il primo mercato: una zona di Pescara</a:t>
            </a:r>
          </a:p>
        </p:txBody>
      </p:sp>
      <p:sp>
        <p:nvSpPr>
          <p:cNvPr id="6" name="launch">
            <a:extLst xmlns:a="http://schemas.openxmlformats.org/drawingml/2006/main">
              <a:ext uri="{FF2B5EF4-FFF2-40B4-BE49-F238E27FC236}">
                <a16:creationId xmlns:a16="http://schemas.microsoft.com/office/drawing/2014/main" id="{02D81DCC-89B6-4BCC-9257-78FE7B7137C8}"/>
              </a:ext>
            </a:extLst>
          </p:cNvPr>
          <p:cNvSpPr>
            <a:spLocks xmlns:a="http://schemas.openxmlformats.org/drawingml/2006/main" noGrp="1"/>
          </p:cNvSpPr>
          <p:nvPr/>
        </p:nvSpPr>
        <p:spPr>
          <a:xfrm xmlns:a="http://schemas.openxmlformats.org/drawingml/2006/main">
            <a:off x="723900" y="212407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17211F"/>
                </a:solidFill>
                <a:latin typeface="Arial"/>
                <a:ea typeface="Arial"/>
                <a:cs typeface="Arial"/>
              </a:defRPr>
            </a:pPr>
            <a:r>
              <a:rPr sz="4350" b="1">
                <a:solidFill>
                  <a:srgbClr val="17211F"/>
                </a:solidFill>
                <a:latin typeface="Arial"/>
                <a:ea typeface="Arial"/>
                <a:cs typeface="Arial"/>
              </a:rPr>
              <a:t>Locali e clienti vicini,</a:t>
            </a:r>
          </a:p>
          <a:p xmlns:a="http://schemas.openxmlformats.org/drawingml/2006/main">
            <a:pPr>
              <a:defRPr sz="4350" b="1">
                <a:solidFill>
                  <a:srgbClr val="17211F"/>
                </a:solidFill>
                <a:latin typeface="Arial"/>
                <a:ea typeface="Arial"/>
                <a:cs typeface="Arial"/>
              </a:defRPr>
            </a:pPr>
            <a:r>
              <a:rPr sz="4350" b="1">
                <a:solidFill>
                  <a:srgbClr val="17211F"/>
                </a:solidFill>
                <a:latin typeface="Arial"/>
                <a:ea typeface="Arial"/>
                <a:cs typeface="Arial"/>
              </a:rPr>
              <a:t>con richieste aperte a tutti</a:t>
            </a:r>
          </a:p>
        </p:txBody>
      </p:sp>
      <p:sp>
        <p:nvSpPr>
          <p:cNvPr id="7" name="plan">
            <a:extLst xmlns:a="http://schemas.openxmlformats.org/drawingml/2006/main">
              <a:ext uri="{FF2B5EF4-FFF2-40B4-BE49-F238E27FC236}">
                <a16:creationId xmlns:a16="http://schemas.microsoft.com/office/drawing/2014/main" id="{DBDB5BEE-0482-4D62-87EF-F0029ED03D0A}"/>
              </a:ext>
            </a:extLst>
          </p:cNvPr>
          <p:cNvSpPr>
            <a:spLocks xmlns:a="http://schemas.openxmlformats.org/drawingml/2006/main" noGrp="1"/>
          </p:cNvSpPr>
          <p:nvPr/>
        </p:nvSpPr>
        <p:spPr>
          <a:xfrm xmlns:a="http://schemas.openxmlformats.org/drawingml/2006/main">
            <a:off x="723900" y="4000500"/>
            <a:ext cx="10763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17211F"/>
                </a:solidFill>
                <a:latin typeface="Arial"/>
                <a:ea typeface="Arial"/>
                <a:cs typeface="Arial"/>
              </a:defRPr>
            </a:pPr>
            <a:r>
              <a:rPr sz="2175" b="0">
                <a:solidFill>
                  <a:srgbClr val="17211F"/>
                </a:solidFill>
                <a:latin typeface="Arial"/>
                <a:ea typeface="Arial"/>
                <a:cs typeface="Arial"/>
              </a:rPr>
              <a:t>Proponiamo una prova sul campo con gestori da reclutare.</a:t>
            </a:r>
          </a:p>
          <a:p xmlns:a="http://schemas.openxmlformats.org/drawingml/2006/main">
            <a:pPr>
              <a:defRPr sz="2175" b="0">
                <a:solidFill>
                  <a:srgbClr val="17211F"/>
                </a:solidFill>
                <a:latin typeface="Arial"/>
                <a:ea typeface="Arial"/>
                <a:cs typeface="Arial"/>
              </a:defRPr>
            </a:pPr>
            <a:r>
              <a:rPr sz="2175" b="0">
                <a:solidFill>
                  <a:srgbClr val="17211F"/>
                </a:solidFill>
                <a:latin typeface="Arial"/>
                <a:ea typeface="Arial"/>
                <a:cs typeface="Arial"/>
              </a:rPr>
              <a:t>I locali pubblicano piatti disponibili. I clienti confrontano le offerte.</a:t>
            </a:r>
          </a:p>
        </p:txBody>
      </p:sp>
      <p:sp>
        <p:nvSpPr>
          <p:cNvPr id="8" name="measure">
            <a:extLst xmlns:a="http://schemas.openxmlformats.org/drawingml/2006/main">
              <a:ext uri="{FF2B5EF4-FFF2-40B4-BE49-F238E27FC236}">
                <a16:creationId xmlns:a16="http://schemas.microsoft.com/office/drawing/2014/main" id="{3C23CD17-6F27-4A77-BB67-605A798B60B1}"/>
              </a:ext>
            </a:extLst>
          </p:cNvPr>
          <p:cNvSpPr>
            <a:spLocks xmlns:a="http://schemas.openxmlformats.org/drawingml/2006/main" noGrp="1"/>
          </p:cNvSpPr>
          <p:nvPr/>
        </p:nvSpPr>
        <p:spPr>
          <a:xfrm xmlns:a="http://schemas.openxmlformats.org/drawingml/2006/main">
            <a:off x="723900" y="51816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DE4528"/>
                </a:solidFill>
                <a:latin typeface="Arial"/>
                <a:ea typeface="Arial"/>
                <a:cs typeface="Arial"/>
              </a:defRPr>
            </a:pPr>
            <a:r>
              <a:rPr sz="2100" b="1">
                <a:solidFill>
                  <a:srgbClr val="DE4528"/>
                </a:solidFill>
                <a:latin typeface="Arial"/>
                <a:ea typeface="Arial"/>
                <a:cs typeface="Arial"/>
              </a:rPr>
              <a:t>Misuriamo ordini aggiuntivi, ritorno dei clienti e lavoro richiesto.</a:t>
            </a:r>
          </a:p>
          <a:p xmlns:a="http://schemas.openxmlformats.org/drawingml/2006/main">
            <a:pPr>
              <a:defRPr sz="2100" b="1">
                <a:solidFill>
                  <a:srgbClr val="DE4528"/>
                </a:solidFill>
                <a:latin typeface="Arial"/>
                <a:ea typeface="Arial"/>
                <a:cs typeface="Arial"/>
              </a:defRPr>
            </a:pPr>
            <a:r>
              <a:rPr sz="2100" b="1">
                <a:solidFill>
                  <a:srgbClr val="DE4528"/>
                </a:solidFill>
                <a:latin typeface="Arial"/>
                <a:ea typeface="Arial"/>
                <a:cs typeface="Arial"/>
              </a:rPr>
              <a:t>Verifichiamo se i locali pagherebbero 0,70 € per ritiro.</a:t>
            </a:r>
          </a:p>
        </p:txBody>
      </p:sp>
    </p:spTree>
    <p:extLst>
      <p:ext uri="{BB962C8B-B14F-4D97-AF65-F5344CB8AC3E}">
        <p14:creationId xmlns:p14="http://schemas.microsoft.com/office/powerpoint/2010/main" val="9489329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2026-09-19T13:59:39.7080000Z</dcterms:created>
  <dcterms:modified xsi:type="dcterms:W3CDTF">2026-09-19T13:59:39.7080000Z</dcterms:modified>
</coreProperties>
</file>